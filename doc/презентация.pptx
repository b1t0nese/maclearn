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12"/>
  </p:notesMasterIdLst>
  <p:sldIdLst>
    <p:sldId id="256" r:id="rId2"/>
    <p:sldId id="288" r:id="rId3"/>
    <p:sldId id="289" r:id="rId4"/>
    <p:sldId id="290" r:id="rId5"/>
    <p:sldId id="291" r:id="rId6"/>
    <p:sldId id="259" r:id="rId7"/>
    <p:sldId id="293" r:id="rId8"/>
    <p:sldId id="260" r:id="rId9"/>
    <p:sldId id="292" r:id="rId10"/>
    <p:sldId id="269" r:id="rId11"/>
  </p:sldIdLst>
  <p:sldSz cx="9144000" cy="5143500" type="screen16x9"/>
  <p:notesSz cx="6858000" cy="9144000"/>
  <p:embeddedFontLst>
    <p:embeddedFont>
      <p:font typeface="Catamaran" panose="020B0604020202020204" charset="0"/>
      <p:regular r:id="rId13"/>
      <p:bold r:id="rId14"/>
    </p:embeddedFont>
    <p:embeddedFont>
      <p:font typeface="Nunito Light" pitchFamily="2" charset="-52"/>
      <p:regular r:id="rId15"/>
      <p:italic r:id="rId16"/>
    </p:embeddedFont>
    <p:embeddedFont>
      <p:font typeface="Rethink Sans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026A597-F1D0-4693-800B-CC319C112E93}">
  <a:tblStyle styleId="{3026A597-F1D0-4693-800B-CC319C112E9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3EBF73E-21D8-4B0F-B23B-22DA3B1CFB0C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 title="bk1 glass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228600" y="228600"/>
            <a:ext cx="5173800" cy="30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228600" y="3469350"/>
            <a:ext cx="5173800" cy="144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 title="bk2 blur.png"/>
          <p:cNvPicPr preferRelativeResize="0"/>
          <p:nvPr/>
        </p:nvPicPr>
        <p:blipFill rotWithShape="1">
          <a:blip r:embed="rId2">
            <a:alphaModFix/>
          </a:blip>
          <a:srcRect t="4662" r="4680"/>
          <a:stretch/>
        </p:blipFill>
        <p:spPr>
          <a:xfrm>
            <a:off x="0" y="-212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899650" y="228600"/>
            <a:ext cx="5015700" cy="106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7263500" y="3910775"/>
            <a:ext cx="1652100" cy="97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899900" y="1445825"/>
            <a:ext cx="5015700" cy="10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5576325" y="3288188"/>
            <a:ext cx="2530500" cy="5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0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subTitle" idx="1"/>
          </p:nvPr>
        </p:nvSpPr>
        <p:spPr>
          <a:xfrm>
            <a:off x="720000" y="1700300"/>
            <a:ext cx="36741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7"/>
          <p:cNvSpPr>
            <a:spLocks noGrp="1"/>
          </p:cNvSpPr>
          <p:nvPr>
            <p:ph type="pic" idx="2"/>
          </p:nvPr>
        </p:nvSpPr>
        <p:spPr>
          <a:xfrm>
            <a:off x="5175575" y="1336375"/>
            <a:ext cx="3255300" cy="2982600"/>
          </a:xfrm>
          <a:prstGeom prst="rect">
            <a:avLst/>
          </a:prstGeom>
          <a:noFill/>
          <a:ln>
            <a:noFill/>
          </a:ln>
        </p:spPr>
      </p:sp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8" title="bk2 blur.png"/>
          <p:cNvPicPr preferRelativeResize="0"/>
          <p:nvPr/>
        </p:nvPicPr>
        <p:blipFill rotWithShape="1">
          <a:blip r:embed="rId2">
            <a:alphaModFix/>
          </a:blip>
          <a:srcRect t="4662" r="4680"/>
          <a:stretch/>
        </p:blipFill>
        <p:spPr>
          <a:xfrm>
            <a:off x="0" y="-212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9" title="bk2 blur.png"/>
          <p:cNvPicPr preferRelativeResize="0"/>
          <p:nvPr/>
        </p:nvPicPr>
        <p:blipFill rotWithShape="1">
          <a:blip r:embed="rId2">
            <a:alphaModFix/>
          </a:blip>
          <a:srcRect t="4662" r="4680"/>
          <a:stretch/>
        </p:blipFill>
        <p:spPr>
          <a:xfrm>
            <a:off x="0" y="-212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23950" y="1655488"/>
            <a:ext cx="4872900" cy="116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65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23950" y="2816913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>
            <a:spLocks noGrp="1"/>
          </p:cNvSpPr>
          <p:nvPr>
            <p:ph type="pic" idx="2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41" name="Google Shape;41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11" title="bk3 blur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283550"/>
            <a:ext cx="5528700" cy="171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6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>
            <a:spLocks noGrp="1"/>
          </p:cNvSpPr>
          <p:nvPr>
            <p:ph type="subTitle" idx="1"/>
          </p:nvPr>
        </p:nvSpPr>
        <p:spPr>
          <a:xfrm>
            <a:off x="1284000" y="3000100"/>
            <a:ext cx="5528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_AND_TWO_COLUMNS_1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 title="bk3 blur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>
            <a:spLocks noGrp="1"/>
          </p:cNvSpPr>
          <p:nvPr>
            <p:ph type="subTitle" idx="1"/>
          </p:nvPr>
        </p:nvSpPr>
        <p:spPr>
          <a:xfrm>
            <a:off x="4427825" y="228595"/>
            <a:ext cx="4487400" cy="430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441600" cy="445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ONE_COLUMN_TEXT_1_1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bk3 blur reflect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9" title="bk1 glass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9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144300" cy="132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ubTitle" idx="1"/>
          </p:nvPr>
        </p:nvSpPr>
        <p:spPr>
          <a:xfrm>
            <a:off x="228600" y="1736225"/>
            <a:ext cx="3144300" cy="135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9"/>
          <p:cNvSpPr txBox="1"/>
          <p:nvPr/>
        </p:nvSpPr>
        <p:spPr>
          <a:xfrm>
            <a:off x="228600" y="3683725"/>
            <a:ext cx="42546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CREDITS:</a:t>
            </a:r>
            <a:r>
              <a:rPr lang="en" sz="12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Catamaran"/>
                <a:ea typeface="Catamaran"/>
                <a:cs typeface="Catamaran"/>
                <a:sym typeface="Catamaran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, and includes icons,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Catamaran"/>
                <a:ea typeface="Catamaran"/>
                <a:cs typeface="Catamaran"/>
                <a:sym typeface="Catamaran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</a:t>
            </a:r>
            <a:endParaRPr sz="1200" b="1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0" title="bk1 glass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1" title="bk2 blur.png"/>
          <p:cNvPicPr preferRelativeResize="0"/>
          <p:nvPr/>
        </p:nvPicPr>
        <p:blipFill rotWithShape="1">
          <a:blip r:embed="rId2">
            <a:alphaModFix/>
          </a:blip>
          <a:srcRect t="4662" r="4680"/>
          <a:stretch/>
        </p:blipFill>
        <p:spPr>
          <a:xfrm>
            <a:off x="0" y="-212"/>
            <a:ext cx="9144000" cy="5143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  <p:sldLayoutId id="2147483662" r:id="rId11"/>
    <p:sldLayoutId id="2147483665" r:id="rId12"/>
    <p:sldLayoutId id="2147483666" r:id="rId13"/>
    <p:sldLayoutId id="2147483667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6"/>
          <p:cNvSpPr txBox="1">
            <a:spLocks noGrp="1"/>
          </p:cNvSpPr>
          <p:nvPr>
            <p:ph type="ctrTitle"/>
          </p:nvPr>
        </p:nvSpPr>
        <p:spPr>
          <a:xfrm>
            <a:off x="228600" y="1219200"/>
            <a:ext cx="3663188" cy="116318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MacLearn</a:t>
            </a:r>
            <a:endParaRPr lang="en-US" dirty="0"/>
          </a:p>
        </p:txBody>
      </p:sp>
      <p:sp>
        <p:nvSpPr>
          <p:cNvPr id="119" name="Google Shape;119;p26"/>
          <p:cNvSpPr txBox="1">
            <a:spLocks noGrp="1"/>
          </p:cNvSpPr>
          <p:nvPr>
            <p:ph type="subTitle" idx="1"/>
          </p:nvPr>
        </p:nvSpPr>
        <p:spPr>
          <a:xfrm>
            <a:off x="228600" y="2534630"/>
            <a:ext cx="3909907" cy="7436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Автоматизация сбора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+mj-lt"/>
              </a:rPr>
              <a:t>датасетов</a:t>
            </a:r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 для компьютерного зрения.</a:t>
            </a:r>
            <a:endParaRPr dirty="0">
              <a:latin typeface="+mj-lt"/>
            </a:endParaRPr>
          </a:p>
        </p:txBody>
      </p:sp>
      <p:cxnSp>
        <p:nvCxnSpPr>
          <p:cNvPr id="120" name="Google Shape;120;p26"/>
          <p:cNvCxnSpPr>
            <a:cxnSpLocks/>
          </p:cNvCxnSpPr>
          <p:nvPr/>
        </p:nvCxnSpPr>
        <p:spPr>
          <a:xfrm>
            <a:off x="313775" y="2382230"/>
            <a:ext cx="3492838" cy="15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4408621-ACE0-4EB4-AC97-4C305CFC5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1788" y="228599"/>
            <a:ext cx="5024946" cy="4164820"/>
          </a:xfrm>
          <a:prstGeom prst="rect">
            <a:avLst/>
          </a:prstGeom>
        </p:spPr>
      </p:pic>
      <p:sp>
        <p:nvSpPr>
          <p:cNvPr id="8" name="Google Shape;119;p26">
            <a:extLst>
              <a:ext uri="{FF2B5EF4-FFF2-40B4-BE49-F238E27FC236}">
                <a16:creationId xmlns:a16="http://schemas.microsoft.com/office/drawing/2014/main" id="{CC044C24-FE02-452F-A89C-37CF76055A3C}"/>
              </a:ext>
            </a:extLst>
          </p:cNvPr>
          <p:cNvSpPr txBox="1">
            <a:spLocks/>
          </p:cNvSpPr>
          <p:nvPr/>
        </p:nvSpPr>
        <p:spPr>
          <a:xfrm>
            <a:off x="1341120" y="3684535"/>
            <a:ext cx="2550668" cy="708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6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/>
            <a:r>
              <a:rPr lang="ru-RU" dirty="0">
                <a:solidFill>
                  <a:srgbClr val="F9FAFB"/>
                </a:solidFill>
                <a:latin typeface="+mj-lt"/>
              </a:rPr>
              <a:t>Автор: </a:t>
            </a:r>
            <a:r>
              <a:rPr lang="ru-RU" dirty="0" err="1">
                <a:solidFill>
                  <a:srgbClr val="F9FAFB"/>
                </a:solidFill>
                <a:latin typeface="+mj-lt"/>
              </a:rPr>
              <a:t>Минибаев</a:t>
            </a:r>
            <a:r>
              <a:rPr lang="ru-RU" dirty="0">
                <a:solidFill>
                  <a:srgbClr val="F9FAFB"/>
                </a:solidFill>
                <a:latin typeface="+mj-lt"/>
              </a:rPr>
              <a:t> Артём, </a:t>
            </a:r>
            <a:r>
              <a:rPr lang="en-US" dirty="0">
                <a:solidFill>
                  <a:srgbClr val="F9FAFB"/>
                </a:solidFill>
                <a:latin typeface="+mj-lt"/>
              </a:rPr>
              <a:t> </a:t>
            </a:r>
            <a:r>
              <a:rPr lang="ru-RU" dirty="0">
                <a:solidFill>
                  <a:srgbClr val="F9FAFB"/>
                </a:solidFill>
                <a:latin typeface="+mj-lt"/>
              </a:rPr>
              <a:t>МБОУ «Лицей №2» 9кл</a:t>
            </a:r>
            <a:endParaRPr lang="ru-RU" dirty="0">
              <a:latin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C3E6E1A8-E000-424F-B02D-0AAFC35C5C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1827" y="1362709"/>
            <a:ext cx="5889326" cy="2702560"/>
          </a:xfrm>
        </p:spPr>
        <p:txBody>
          <a:bodyPr/>
          <a:lstStyle/>
          <a:p>
            <a:pPr marL="139700" indent="0">
              <a:buNone/>
            </a:pPr>
            <a:r>
              <a:rPr lang="ru-RU" sz="1700" dirty="0">
                <a:latin typeface="+mn-lt"/>
              </a:rPr>
              <a:t>Однажды занимаясь изучением машинного зрения я заметил в этом большую проблему – сборка </a:t>
            </a:r>
            <a:r>
              <a:rPr lang="ru-RU" sz="1700" dirty="0" err="1">
                <a:latin typeface="+mn-lt"/>
              </a:rPr>
              <a:t>датасета</a:t>
            </a:r>
            <a:r>
              <a:rPr lang="ru-RU" sz="1700" dirty="0">
                <a:latin typeface="+mn-lt"/>
              </a:rPr>
              <a:t>, а разработка моделей компьютерного зрения начинается как раз с данных и сильно зависит от них.</a:t>
            </a:r>
          </a:p>
          <a:p>
            <a:r>
              <a:rPr lang="ru-RU" sz="1700" dirty="0">
                <a:latin typeface="+mn-lt"/>
              </a:rPr>
              <a:t>Ручной сбор и разметка тысяч изображений — это:</a:t>
            </a:r>
          </a:p>
          <a:p>
            <a:pPr lvl="1"/>
            <a:r>
              <a:rPr lang="ru-RU" sz="1700" dirty="0">
                <a:latin typeface="+mn-lt"/>
              </a:rPr>
              <a:t>Трудоёмко и рутинно</a:t>
            </a:r>
          </a:p>
          <a:p>
            <a:pPr lvl="1"/>
            <a:r>
              <a:rPr lang="ru-RU" sz="1700" dirty="0">
                <a:latin typeface="+mn-lt"/>
              </a:rPr>
              <a:t>Дорого в плане времени</a:t>
            </a:r>
          </a:p>
          <a:p>
            <a:pPr lvl="1"/>
            <a:r>
              <a:rPr lang="ru-RU" sz="1700" dirty="0">
                <a:latin typeface="+mn-lt"/>
              </a:rPr>
              <a:t>«Чем больше тем лучше» - что не даёт сократить тебе кол-во изображений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03FB92-FB2A-4BE6-BCC0-CCBC6F0C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Проблема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AD45F000-3ABE-44F8-B867-87086A8D5B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2593" y="1222586"/>
            <a:ext cx="2982807" cy="2982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025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4260EE-C178-4DC8-B826-E994E830D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2" y="228600"/>
            <a:ext cx="5068147" cy="572700"/>
          </a:xfrm>
        </p:spPr>
        <p:txBody>
          <a:bodyPr/>
          <a:lstStyle/>
          <a:p>
            <a:pPr algn="ctr"/>
            <a:r>
              <a:rPr lang="ru-RU" dirty="0"/>
              <a:t>Решение — </a:t>
            </a:r>
            <a:r>
              <a:rPr lang="en-US" dirty="0" err="1"/>
              <a:t>MacLearn</a:t>
            </a:r>
            <a:endParaRPr lang="ru-RU" dirty="0"/>
          </a:p>
        </p:txBody>
      </p:sp>
      <p:sp>
        <p:nvSpPr>
          <p:cNvPr id="6" name="Текст 1">
            <a:extLst>
              <a:ext uri="{FF2B5EF4-FFF2-40B4-BE49-F238E27FC236}">
                <a16:creationId xmlns:a16="http://schemas.microsoft.com/office/drawing/2014/main" id="{AC7688AE-16A4-4317-B925-4EBC379322E1}"/>
              </a:ext>
            </a:extLst>
          </p:cNvPr>
          <p:cNvSpPr txBox="1">
            <a:spLocks/>
          </p:cNvSpPr>
          <p:nvPr/>
        </p:nvSpPr>
        <p:spPr>
          <a:xfrm>
            <a:off x="154617" y="776015"/>
            <a:ext cx="4829387" cy="406730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39700"/>
            <a:r>
              <a:rPr lang="ru-RU" sz="1800" dirty="0">
                <a:solidFill>
                  <a:schemeClr val="tx1"/>
                </a:solidFill>
                <a:latin typeface="+mn-lt"/>
                <a:cs typeface="Catamaran" panose="020B0604020202020204" charset="0"/>
              </a:rPr>
              <a:t>MacLearn — это программа для автоматического сбора и подготовки качественных </a:t>
            </a:r>
            <a:r>
              <a:rPr lang="ru-RU" sz="1800" dirty="0" err="1">
                <a:solidFill>
                  <a:schemeClr val="tx1"/>
                </a:solidFill>
                <a:latin typeface="+mn-lt"/>
                <a:cs typeface="Catamaran" panose="020B0604020202020204" charset="0"/>
              </a:rPr>
              <a:t>датасетов</a:t>
            </a:r>
            <a:r>
              <a:rPr lang="ru-RU" sz="1800" dirty="0">
                <a:solidFill>
                  <a:schemeClr val="tx1"/>
                </a:solidFill>
                <a:latin typeface="+mn-lt"/>
                <a:cs typeface="Catamaran" panose="020B0604020202020204" charset="0"/>
              </a:rPr>
              <a:t> из изображений, скачанных из интернета.</a:t>
            </a:r>
          </a:p>
          <a:p>
            <a:pPr marL="139700"/>
            <a:endParaRPr lang="en-US" sz="1800" dirty="0">
              <a:solidFill>
                <a:schemeClr val="tx1"/>
              </a:solidFill>
              <a:latin typeface="+mn-lt"/>
              <a:cs typeface="Catamaran" panose="020B0604020202020204" charset="0"/>
            </a:endParaRPr>
          </a:p>
          <a:p>
            <a:pPr marL="139700"/>
            <a:r>
              <a:rPr lang="ru-RU" sz="1800" dirty="0">
                <a:solidFill>
                  <a:schemeClr val="tx1"/>
                </a:solidFill>
                <a:latin typeface="+mn-lt"/>
                <a:cs typeface="Catamaran" panose="020B0604020202020204" charset="0"/>
              </a:rPr>
              <a:t>От разработчика модели машинного зрения потребуется </a:t>
            </a:r>
            <a:r>
              <a:rPr lang="ru-RU" sz="1800" dirty="0" err="1">
                <a:solidFill>
                  <a:schemeClr val="tx1"/>
                </a:solidFill>
                <a:latin typeface="+mn-lt"/>
                <a:cs typeface="Catamaran" panose="020B0604020202020204" charset="0"/>
              </a:rPr>
              <a:t>всего-лишь</a:t>
            </a:r>
            <a:r>
              <a:rPr lang="ru-RU" sz="1800" dirty="0">
                <a:solidFill>
                  <a:schemeClr val="tx1"/>
                </a:solidFill>
                <a:latin typeface="+mn-lt"/>
                <a:cs typeface="Catamaran" panose="020B0604020202020204" charset="0"/>
              </a:rPr>
              <a:t> настроить «проект», запустить процесс создания данных, после получения сделать экспорт в нужном формате и готово, можно сразу тренировать модель.</a:t>
            </a:r>
          </a:p>
          <a:p>
            <a:pPr marL="139700"/>
            <a:endParaRPr lang="ru-RU" sz="1800" dirty="0">
              <a:solidFill>
                <a:schemeClr val="tx1"/>
              </a:solidFill>
              <a:latin typeface="+mn-lt"/>
              <a:cs typeface="Catamaran" panose="020B0604020202020204" charset="0"/>
            </a:endParaRPr>
          </a:p>
          <a:p>
            <a:pPr marL="139700"/>
            <a:r>
              <a:rPr lang="ru-RU" sz="1800" dirty="0">
                <a:solidFill>
                  <a:schemeClr val="tx1"/>
                </a:solidFill>
                <a:latin typeface="+mn-lt"/>
                <a:cs typeface="Catamaran" panose="020B0604020202020204" charset="0"/>
              </a:rPr>
              <a:t>Это должно сильно экономить время разработки и получать результат сразу.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1204D15-EED4-4B70-8B24-EB9CEAA7A6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407"/>
          <a:stretch/>
        </p:blipFill>
        <p:spPr>
          <a:xfrm>
            <a:off x="4984004" y="1047333"/>
            <a:ext cx="4159996" cy="3524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144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E0B5AC-612E-4434-9CF1-B5ADE23631EE}"/>
              </a:ext>
            </a:extLst>
          </p:cNvPr>
          <p:cNvSpPr txBox="1">
            <a:spLocks/>
          </p:cNvSpPr>
          <p:nvPr/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3000" b="1" dirty="0">
                <a:solidFill>
                  <a:schemeClr val="tx1"/>
                </a:solidFill>
                <a:latin typeface="Rethink Sans" panose="020B0604020202020204" charset="0"/>
              </a:rPr>
              <a:t>О программе</a:t>
            </a:r>
          </a:p>
        </p:txBody>
      </p:sp>
      <p:sp>
        <p:nvSpPr>
          <p:cNvPr id="3" name="Текст 1">
            <a:extLst>
              <a:ext uri="{FF2B5EF4-FFF2-40B4-BE49-F238E27FC236}">
                <a16:creationId xmlns:a16="http://schemas.microsoft.com/office/drawing/2014/main" id="{93FD3F25-53CD-40BD-A8F8-4DCD39693873}"/>
              </a:ext>
            </a:extLst>
          </p:cNvPr>
          <p:cNvSpPr txBox="1">
            <a:spLocks/>
          </p:cNvSpPr>
          <p:nvPr/>
        </p:nvSpPr>
        <p:spPr>
          <a:xfrm>
            <a:off x="744220" y="852769"/>
            <a:ext cx="7112848" cy="367859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39700"/>
            <a:r>
              <a:rPr lang="ru-RU" sz="1600" dirty="0">
                <a:solidFill>
                  <a:schemeClr val="tx1"/>
                </a:solidFill>
                <a:highlight>
                  <a:srgbClr val="000000"/>
                </a:highlight>
                <a:latin typeface="+mj-lt"/>
                <a:cs typeface="Catamaran" panose="020B0604020202020204" charset="0"/>
              </a:rPr>
              <a:t>Ключевые возможности программы: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🚀 Быстрый сбор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Тысячи изображений за часы вместо недель ручной работы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Создание полного </a:t>
            </a:r>
            <a:r>
              <a:rPr lang="ru-RU" sz="1600" b="0" i="0" dirty="0" err="1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датасета</a:t>
            </a: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 на 5000+ изображений в течение </a:t>
            </a:r>
            <a:r>
              <a:rPr lang="ru-RU" sz="1600" dirty="0">
                <a:solidFill>
                  <a:srgbClr val="F9FAFB"/>
                </a:solidFill>
                <a:highlight>
                  <a:srgbClr val="000000"/>
                </a:highlight>
                <a:latin typeface="+mj-lt"/>
              </a:rPr>
              <a:t>1-2 часов</a:t>
            </a:r>
            <a:endParaRPr lang="ru-RU" sz="1600" b="0" i="0" dirty="0">
              <a:solidFill>
                <a:srgbClr val="F9FAFB"/>
              </a:solidFill>
              <a:effectLst/>
              <a:highlight>
                <a:srgbClr val="000000"/>
              </a:highlight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sz="1600" b="0" i="0" dirty="0">
              <a:solidFill>
                <a:srgbClr val="F9FAFB"/>
              </a:solidFill>
              <a:effectLst/>
              <a:highlight>
                <a:srgbClr val="000000"/>
              </a:highlight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🎯 Качественная разметка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Автоматическая структуризация по классам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Поддержка сложных поисковых запросов с множеством вариаций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Чёткая организация данных для обучения моделей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sz="1600" b="0" i="0" dirty="0">
              <a:solidFill>
                <a:srgbClr val="F9FAFB"/>
              </a:solidFill>
              <a:effectLst/>
              <a:highlight>
                <a:srgbClr val="000000"/>
              </a:highlight>
              <a:latin typeface="+mj-lt"/>
            </a:endParaRPr>
          </a:p>
          <a:p>
            <a:pPr lvl="2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🤖 Автоматическая аугментация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Генерация +4 вариаций для каждого исходного изображения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Повышение разнообразия данных для лучшего обучения моделей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Увеличение размера </a:t>
            </a:r>
            <a:r>
              <a:rPr lang="ru-RU" sz="1600" b="0" i="0" dirty="0" err="1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датасета</a:t>
            </a: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 без дополнительного ручного труда</a:t>
            </a:r>
          </a:p>
        </p:txBody>
      </p:sp>
    </p:spTree>
    <p:extLst>
      <p:ext uri="{BB962C8B-B14F-4D97-AF65-F5344CB8AC3E}">
        <p14:creationId xmlns:p14="http://schemas.microsoft.com/office/powerpoint/2010/main" val="3087470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B55342-586E-478B-B586-063427841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</p:spPr>
        <p:txBody>
          <a:bodyPr/>
          <a:lstStyle/>
          <a:p>
            <a:r>
              <a:rPr lang="ru-RU" dirty="0"/>
              <a:t>Создание </a:t>
            </a:r>
            <a:r>
              <a:rPr lang="ru-RU" dirty="0" err="1"/>
              <a:t>датасета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738F04-8266-41C5-AF4A-7A7AF673CD92}"/>
              </a:ext>
            </a:extLst>
          </p:cNvPr>
          <p:cNvSpPr txBox="1"/>
          <p:nvPr/>
        </p:nvSpPr>
        <p:spPr>
          <a:xfrm>
            <a:off x="128692" y="305401"/>
            <a:ext cx="5371255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Простой процесс из 4 шагов:</a:t>
            </a:r>
            <a:endParaRPr lang="ru-RU" sz="1600" b="0" i="0" dirty="0">
              <a:solidFill>
                <a:srgbClr val="F9FAFB"/>
              </a:solidFill>
              <a:effectLst/>
              <a:latin typeface="+mj-lt"/>
            </a:endParaRP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Запускаем программу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 и выбираем папку для проекта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Настраиваем классы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 – указываем, какие объекты нам нужны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Запускаем автоматический сбор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 – программа сама найдет и обработает изображения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Получаем готовый </a:t>
            </a:r>
            <a:r>
              <a:rPr lang="ru-RU" sz="1600" b="1" i="0" dirty="0" err="1">
                <a:solidFill>
                  <a:srgbClr val="F9FAFB"/>
                </a:solidFill>
                <a:effectLst/>
                <a:latin typeface="+mj-lt"/>
              </a:rPr>
              <a:t>датасет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 – структурированный и подготовленный для обучения</a:t>
            </a:r>
          </a:p>
          <a:p>
            <a:pPr algn="l"/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Интерфейс интуитивно понятен (особенно для </a:t>
            </a:r>
            <a:r>
              <a:rPr lang="en-US" sz="1600" b="1" i="0" dirty="0">
                <a:solidFill>
                  <a:srgbClr val="F9FAFB"/>
                </a:solidFill>
                <a:effectLst/>
                <a:latin typeface="+mj-lt"/>
              </a:rPr>
              <a:t>ML-</a:t>
            </a:r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инженеров):</a:t>
            </a:r>
            <a:endParaRPr lang="ru-RU" sz="1600" b="0" i="0" dirty="0">
              <a:solidFill>
                <a:srgbClr val="F9FAFB"/>
              </a:solidFill>
              <a:effectLst/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Вкладка "Проект" – для настройки классов и параметров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F9FAFB"/>
                </a:solidFill>
                <a:latin typeface="+mj-lt"/>
              </a:rPr>
              <a:t>Вкладка 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"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+mj-lt"/>
              </a:rPr>
              <a:t>Датасет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" –для ручного управления данными 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+mj-lt"/>
              </a:rPr>
              <a:t>датасета</a:t>
            </a:r>
            <a:endParaRPr lang="ru-RU" sz="1600" b="0" i="0" dirty="0">
              <a:solidFill>
                <a:srgbClr val="F9FAFB"/>
              </a:solidFill>
              <a:effectLst/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Вкладка "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+mj-lt"/>
              </a:rPr>
              <a:t>Автодатасет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" – для запуска и контроля процесса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Визуализация прогресса и подробные 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+mj-lt"/>
              </a:rPr>
              <a:t>логи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 выполнения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3538676-7376-4057-86EF-605BBE509A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814" t="2746" r="18593" b="10700"/>
          <a:stretch/>
        </p:blipFill>
        <p:spPr>
          <a:xfrm>
            <a:off x="5499947" y="1193764"/>
            <a:ext cx="3644054" cy="2993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959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9"/>
          <p:cNvSpPr txBox="1">
            <a:spLocks noGrp="1"/>
          </p:cNvSpPr>
          <p:nvPr>
            <p:ph type="title"/>
          </p:nvPr>
        </p:nvSpPr>
        <p:spPr>
          <a:xfrm>
            <a:off x="1104303" y="487398"/>
            <a:ext cx="7811297" cy="80602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ru-RU" dirty="0"/>
              <a:t>Технические особенности</a:t>
            </a:r>
            <a:endParaRPr lang="en-US" dirty="0"/>
          </a:p>
        </p:txBody>
      </p:sp>
      <p:sp>
        <p:nvSpPr>
          <p:cNvPr id="191" name="Google Shape;191;p29"/>
          <p:cNvSpPr txBox="1">
            <a:spLocks noGrp="1"/>
          </p:cNvSpPr>
          <p:nvPr>
            <p:ph type="subTitle" idx="1"/>
          </p:nvPr>
        </p:nvSpPr>
        <p:spPr>
          <a:xfrm>
            <a:off x="-216746" y="1367932"/>
            <a:ext cx="5397418" cy="36849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highlight>
                  <a:srgbClr val="000000"/>
                </a:highlight>
                <a:latin typeface="+mn-lt"/>
              </a:rPr>
              <a:t>Выбор формата аннотации – поддержка YOLO и других популярных форматов</a:t>
            </a:r>
            <a:endParaRPr lang="en-US" sz="1800" dirty="0">
              <a:highlight>
                <a:srgbClr val="000000"/>
              </a:highlight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highlight>
                  <a:srgbClr val="000000"/>
                </a:highlight>
                <a:latin typeface="+mn-lt"/>
              </a:rPr>
              <a:t>Контроль качества – настройка размера изображений, проверка на дубликаты</a:t>
            </a:r>
            <a:endParaRPr lang="en-US" sz="1800" dirty="0">
              <a:highlight>
                <a:srgbClr val="000000"/>
              </a:highlight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highlight>
                  <a:srgbClr val="000000"/>
                </a:highlight>
                <a:latin typeface="+mn-lt"/>
              </a:rPr>
              <a:t>Гибкая обработка – возможность получать как исходные изображения, так и </a:t>
            </a:r>
            <a:r>
              <a:rPr lang="ru-RU" sz="1800" dirty="0" err="1">
                <a:highlight>
                  <a:srgbClr val="000000"/>
                </a:highlight>
                <a:latin typeface="+mn-lt"/>
              </a:rPr>
              <a:t>аугментированные</a:t>
            </a:r>
            <a:r>
              <a:rPr lang="ru-RU" sz="1800" dirty="0">
                <a:highlight>
                  <a:srgbClr val="000000"/>
                </a:highlight>
                <a:latin typeface="+mn-lt"/>
              </a:rPr>
              <a:t> (искажённые) версии</a:t>
            </a:r>
            <a:endParaRPr lang="en-US" sz="1800" dirty="0">
              <a:highlight>
                <a:srgbClr val="000000"/>
              </a:highlight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1800" dirty="0" err="1">
                <a:highlight>
                  <a:srgbClr val="000000"/>
                </a:highlight>
                <a:latin typeface="+mn-lt"/>
              </a:rPr>
              <a:t>Валидационные</a:t>
            </a:r>
            <a:r>
              <a:rPr lang="ru-RU" sz="1800" dirty="0">
                <a:highlight>
                  <a:srgbClr val="000000"/>
                </a:highlight>
                <a:latin typeface="+mn-lt"/>
              </a:rPr>
              <a:t> данные – автоматическое создание тестовых наборов изображений</a:t>
            </a:r>
            <a:endParaRPr lang="en-US" sz="1800" dirty="0">
              <a:highlight>
                <a:srgbClr val="000000"/>
              </a:highlight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highlight>
                  <a:srgbClr val="000000"/>
                </a:highlight>
                <a:latin typeface="+mn-lt"/>
              </a:rPr>
              <a:t>Сохранение пропорций </a:t>
            </a:r>
            <a:r>
              <a:rPr lang="ru-RU" sz="1800" dirty="0" err="1">
                <a:highlight>
                  <a:srgbClr val="000000"/>
                </a:highlight>
                <a:latin typeface="+mn-lt"/>
              </a:rPr>
              <a:t>bounding</a:t>
            </a:r>
            <a:r>
              <a:rPr lang="ru-RU" sz="1800" dirty="0">
                <a:highlight>
                  <a:srgbClr val="000000"/>
                </a:highlight>
                <a:latin typeface="+mn-lt"/>
              </a:rPr>
              <a:t> </a:t>
            </a:r>
            <a:r>
              <a:rPr lang="ru-RU" sz="1800" dirty="0" err="1">
                <a:highlight>
                  <a:srgbClr val="000000"/>
                </a:highlight>
                <a:latin typeface="+mn-lt"/>
              </a:rPr>
              <a:t>boxes</a:t>
            </a:r>
            <a:endParaRPr lang="en-US" sz="1800" dirty="0">
              <a:highlight>
                <a:srgbClr val="000000"/>
              </a:highlight>
              <a:latin typeface="+mn-lt"/>
            </a:endParaRPr>
          </a:p>
        </p:txBody>
      </p:sp>
      <p:cxnSp>
        <p:nvCxnSpPr>
          <p:cNvPr id="192" name="Google Shape;192;p29"/>
          <p:cNvCxnSpPr/>
          <p:nvPr/>
        </p:nvCxnSpPr>
        <p:spPr>
          <a:xfrm>
            <a:off x="5100575" y="1293425"/>
            <a:ext cx="37314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153EA5-D311-4337-B4C5-2374FAD92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29" y="1418449"/>
            <a:ext cx="4098685" cy="33971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8D1F27-F783-4468-8C17-6CACE750F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Строение проектов</a:t>
            </a:r>
          </a:p>
        </p:txBody>
      </p:sp>
      <p:sp>
        <p:nvSpPr>
          <p:cNvPr id="3" name="Google Shape;191;p29">
            <a:extLst>
              <a:ext uri="{FF2B5EF4-FFF2-40B4-BE49-F238E27FC236}">
                <a16:creationId xmlns:a16="http://schemas.microsoft.com/office/drawing/2014/main" id="{03A009FC-4F1C-4BF1-B303-7B9CC4A71BB8}"/>
              </a:ext>
            </a:extLst>
          </p:cNvPr>
          <p:cNvSpPr txBox="1">
            <a:spLocks/>
          </p:cNvSpPr>
          <p:nvPr/>
        </p:nvSpPr>
        <p:spPr>
          <a:xfrm>
            <a:off x="-211668" y="3313715"/>
            <a:ext cx="3991187" cy="16011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57200" lvl="1"/>
            <a:r>
              <a:rPr lang="ru-RU" sz="1600" dirty="0">
                <a:solidFill>
                  <a:schemeClr val="tx1"/>
                </a:solidFill>
                <a:highlight>
                  <a:srgbClr val="000000"/>
                </a:highlight>
              </a:rPr>
              <a:t>Система проектов в приоритете использует </a:t>
            </a:r>
            <a:r>
              <a:rPr lang="en-US" sz="1600" dirty="0" err="1">
                <a:solidFill>
                  <a:schemeClr val="tx1"/>
                </a:solidFill>
                <a:highlight>
                  <a:srgbClr val="000000"/>
                </a:highlight>
              </a:rPr>
              <a:t>sqlite</a:t>
            </a:r>
            <a:r>
              <a:rPr lang="en-US" sz="1600" dirty="0">
                <a:solidFill>
                  <a:schemeClr val="tx1"/>
                </a:solidFill>
                <a:highlight>
                  <a:srgbClr val="000000"/>
                </a:highlight>
              </a:rPr>
              <a:t> </a:t>
            </a:r>
            <a:r>
              <a:rPr lang="ru-RU" sz="1600" dirty="0">
                <a:solidFill>
                  <a:schemeClr val="tx1"/>
                </a:solidFill>
                <a:highlight>
                  <a:srgbClr val="000000"/>
                </a:highlight>
              </a:rPr>
              <a:t>для сохранения настроек и данных для изображений, чтобы в любое время удобно делать экспорт </a:t>
            </a:r>
            <a:r>
              <a:rPr lang="ru-RU" sz="1600" dirty="0" err="1">
                <a:solidFill>
                  <a:schemeClr val="tx1"/>
                </a:solidFill>
                <a:highlight>
                  <a:srgbClr val="000000"/>
                </a:highlight>
              </a:rPr>
              <a:t>датасетов</a:t>
            </a:r>
            <a:r>
              <a:rPr lang="ru-RU" sz="1600" dirty="0">
                <a:solidFill>
                  <a:schemeClr val="tx1"/>
                </a:solidFill>
                <a:highlight>
                  <a:srgbClr val="000000"/>
                </a:highlight>
              </a:rPr>
              <a:t> в нужных форматах.</a:t>
            </a:r>
            <a:endParaRPr lang="en-US" sz="1600" dirty="0">
              <a:solidFill>
                <a:schemeClr val="tx1"/>
              </a:solidFill>
              <a:highlight>
                <a:srgbClr val="000000"/>
              </a:highlight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3FF7709-165A-4A87-943A-EDB69E68F2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53" y="950313"/>
            <a:ext cx="5276440" cy="3657601"/>
          </a:xfrm>
          <a:prstGeom prst="rect">
            <a:avLst/>
          </a:prstGeom>
        </p:spPr>
      </p:pic>
      <p:sp>
        <p:nvSpPr>
          <p:cNvPr id="8" name="Google Shape;191;p29">
            <a:extLst>
              <a:ext uri="{FF2B5EF4-FFF2-40B4-BE49-F238E27FC236}">
                <a16:creationId xmlns:a16="http://schemas.microsoft.com/office/drawing/2014/main" id="{9C33FA07-56D8-45DB-A04E-42705249752C}"/>
              </a:ext>
            </a:extLst>
          </p:cNvPr>
          <p:cNvSpPr txBox="1">
            <a:spLocks/>
          </p:cNvSpPr>
          <p:nvPr/>
        </p:nvSpPr>
        <p:spPr>
          <a:xfrm>
            <a:off x="5244252" y="1018738"/>
            <a:ext cx="3991187" cy="3095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57200" lvl="1"/>
            <a:r>
              <a:rPr lang="ru-RU" sz="1600" dirty="0">
                <a:solidFill>
                  <a:schemeClr val="tx1"/>
                </a:solidFill>
                <a:highlight>
                  <a:srgbClr val="000000"/>
                </a:highlight>
              </a:rPr>
              <a:t>Управление проектом идёт с помощью специального модуля </a:t>
            </a:r>
            <a:r>
              <a:rPr lang="en-US" sz="1600" dirty="0">
                <a:solidFill>
                  <a:schemeClr val="tx1"/>
                </a:solidFill>
                <a:highlight>
                  <a:srgbClr val="000000"/>
                </a:highlight>
              </a:rPr>
              <a:t>project_manager.py </a:t>
            </a:r>
            <a:r>
              <a:rPr lang="ru-RU" sz="1600" dirty="0">
                <a:solidFill>
                  <a:schemeClr val="tx1"/>
                </a:solidFill>
                <a:highlight>
                  <a:srgbClr val="000000"/>
                </a:highlight>
              </a:rPr>
              <a:t>который имеет в наличии 2 класса: 1 для работы со всем проектом, 2 это родитель первого класса для управления базой данных и изображениями</a:t>
            </a:r>
          </a:p>
          <a:p>
            <a:pPr marL="457200" lvl="1"/>
            <a:endParaRPr lang="ru-RU" sz="1600" dirty="0">
              <a:solidFill>
                <a:schemeClr val="tx1"/>
              </a:solidFill>
              <a:highlight>
                <a:srgbClr val="000000"/>
              </a:highlight>
            </a:endParaRPr>
          </a:p>
          <a:p>
            <a:pPr marL="457200" lvl="1"/>
            <a:r>
              <a:rPr lang="ru-RU" sz="1600" dirty="0">
                <a:solidFill>
                  <a:schemeClr val="tx1"/>
                </a:solidFill>
                <a:highlight>
                  <a:srgbClr val="000000"/>
                </a:highlight>
              </a:rPr>
              <a:t>Благодаря системе этого модуля получается удобный инструмент для получения и изменения данных проектов.</a:t>
            </a:r>
          </a:p>
        </p:txBody>
      </p:sp>
    </p:spTree>
    <p:extLst>
      <p:ext uri="{BB962C8B-B14F-4D97-AF65-F5344CB8AC3E}">
        <p14:creationId xmlns:p14="http://schemas.microsoft.com/office/powerpoint/2010/main" val="325949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0"/>
          <p:cNvSpPr txBox="1">
            <a:spLocks noGrp="1"/>
          </p:cNvSpPr>
          <p:nvPr>
            <p:ph type="title"/>
          </p:nvPr>
        </p:nvSpPr>
        <p:spPr>
          <a:xfrm>
            <a:off x="5396653" y="4572"/>
            <a:ext cx="3747347" cy="83278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Пользователи</a:t>
            </a:r>
            <a:endParaRPr dirty="0"/>
          </a:p>
        </p:txBody>
      </p:sp>
      <p:sp>
        <p:nvSpPr>
          <p:cNvPr id="198" name="Google Shape;198;p30"/>
          <p:cNvSpPr txBox="1">
            <a:spLocks noGrp="1"/>
          </p:cNvSpPr>
          <p:nvPr>
            <p:ph type="subTitle" idx="1"/>
          </p:nvPr>
        </p:nvSpPr>
        <p:spPr>
          <a:xfrm>
            <a:off x="0" y="772161"/>
            <a:ext cx="5554133" cy="403647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/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MacLearn полезен всем, кто работает с компьютерным зрением:</a:t>
            </a:r>
            <a:endParaRPr lang="ru-RU" sz="1600" b="0" i="0" dirty="0">
              <a:solidFill>
                <a:srgbClr val="F9FAFB"/>
              </a:solidFill>
              <a:effectLst/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Разработчикам ML-моделей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 – для быстрого прототипирования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Исследователям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 – для фокусировки на алгоритмах, а не на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Студентам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 – для обучения и экспериментов с нейросетями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Компаниям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 – для сокращения затрат на подготовку данных</a:t>
            </a:r>
          </a:p>
          <a:p>
            <a:pPr algn="l"/>
            <a:r>
              <a:rPr lang="ru-RU" sz="1600" b="1" i="0" dirty="0">
                <a:solidFill>
                  <a:srgbClr val="F9FAFB"/>
                </a:solidFill>
                <a:effectLst/>
                <a:latin typeface="+mj-lt"/>
              </a:rPr>
              <a:t>Эта программа – как 3D-принтер у инженеров, только в мире данных: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 превращает цифровую идею в физический объект (в нашем случае – в готовый 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+mj-lt"/>
              </a:rPr>
              <a:t>датасет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+mj-lt"/>
              </a:rPr>
              <a:t>).</a:t>
            </a:r>
          </a:p>
        </p:txBody>
      </p:sp>
      <p:cxnSp>
        <p:nvCxnSpPr>
          <p:cNvPr id="199" name="Google Shape;199;p30"/>
          <p:cNvCxnSpPr/>
          <p:nvPr/>
        </p:nvCxnSpPr>
        <p:spPr>
          <a:xfrm>
            <a:off x="312900" y="4914900"/>
            <a:ext cx="85182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FDE43BB2-1514-474F-990A-29282C27A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892" y="946070"/>
            <a:ext cx="4075810" cy="339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30AD0067-561D-431B-A906-2ABCC61EB8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3334" y="-35135"/>
            <a:ext cx="1266613" cy="1266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FAEA26-857B-45CA-B04B-A11706227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Будущее проекта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33EA5-06F3-4069-8917-6B3CD996F180}"/>
              </a:ext>
            </a:extLst>
          </p:cNvPr>
          <p:cNvSpPr txBox="1"/>
          <p:nvPr/>
        </p:nvSpPr>
        <p:spPr>
          <a:xfrm>
            <a:off x="228600" y="898416"/>
            <a:ext cx="5542493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700" b="1" i="0" dirty="0">
                <a:solidFill>
                  <a:srgbClr val="F9FAFB"/>
                </a:solidFill>
                <a:effectLst/>
                <a:latin typeface="+mj-lt"/>
              </a:rPr>
              <a:t>✅ Полная доработка проекта.</a:t>
            </a:r>
          </a:p>
          <a:p>
            <a:pPr algn="l"/>
            <a:r>
              <a:rPr lang="ru-RU" sz="1700" b="1" i="0" dirty="0">
                <a:solidFill>
                  <a:srgbClr val="F9FAFB"/>
                </a:solidFill>
                <a:effectLst/>
                <a:latin typeface="+mj-lt"/>
              </a:rPr>
              <a:t>🛡️ Контроль качества</a:t>
            </a:r>
            <a:endParaRPr lang="ru-RU" sz="1700" b="0" i="0" dirty="0">
              <a:solidFill>
                <a:srgbClr val="F9FAFB"/>
              </a:solidFill>
              <a:effectLst/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+mj-lt"/>
              </a:rPr>
              <a:t>Автоматическая проверка на дубликаты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+mj-lt"/>
              </a:rPr>
              <a:t>Фильтрация артефактов и повреждённых изображений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+mj-lt"/>
              </a:rPr>
              <a:t>Оценка релевантности изображений</a:t>
            </a:r>
          </a:p>
          <a:p>
            <a:pPr algn="l"/>
            <a:r>
              <a:rPr lang="ru-RU" sz="1700" b="1" i="0" dirty="0">
                <a:solidFill>
                  <a:srgbClr val="F9FAFB"/>
                </a:solidFill>
                <a:effectLst/>
                <a:latin typeface="+mj-lt"/>
              </a:rPr>
              <a:t>🔁 Оптимизация работы</a:t>
            </a:r>
            <a:endParaRPr lang="ru-RU" sz="1700" b="0" i="0" dirty="0">
              <a:solidFill>
                <a:srgbClr val="F9FAFB"/>
              </a:solidFill>
              <a:effectLst/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+mj-lt"/>
              </a:rPr>
              <a:t>Внедрение асинхронности для ускорения обработки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1" i="0" dirty="0">
                <a:solidFill>
                  <a:srgbClr val="F9FAFB"/>
                </a:solidFill>
                <a:effectLst/>
                <a:latin typeface="+mj-lt"/>
              </a:rPr>
              <a:t>🤖 Полный цикл ML</a:t>
            </a:r>
            <a:endParaRPr lang="ru-RU" sz="1700" b="0" i="0" dirty="0">
              <a:solidFill>
                <a:srgbClr val="F9FAFB"/>
              </a:solidFill>
              <a:effectLst/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+mj-lt"/>
              </a:rPr>
              <a:t>Интеграция тренировки моделей прямо в программе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+mj-lt"/>
              </a:rPr>
              <a:t>Тестирование распознавания и оценка качества моделей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+mj-lt"/>
              </a:rPr>
              <a:t>Экспорт готового кода для встраивания в проекты</a:t>
            </a:r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797EF926-E2C4-4A13-8920-4BAB752CB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4568" y="975359"/>
            <a:ext cx="4313285" cy="293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992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9"/>
          <p:cNvSpPr txBox="1">
            <a:spLocks noGrp="1"/>
          </p:cNvSpPr>
          <p:nvPr>
            <p:ph type="subTitle" idx="1"/>
          </p:nvPr>
        </p:nvSpPr>
        <p:spPr>
          <a:xfrm>
            <a:off x="-142240" y="1381762"/>
            <a:ext cx="5513494" cy="3294379"/>
          </a:xfrm>
          <a:prstGeom prst="rect">
            <a:avLst/>
          </a:prstGeom>
          <a:solidFill>
            <a:schemeClr val="bg1"/>
          </a:solidFill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sz="18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MacLearn меняет подход к созданию </a:t>
            </a:r>
            <a:r>
              <a:rPr lang="ru-RU" sz="1800" b="1" i="0" dirty="0" err="1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датасетов</a:t>
            </a:r>
            <a:r>
              <a:rPr lang="ru-RU" sz="18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:</a:t>
            </a:r>
            <a:endParaRPr lang="ru-RU" sz="1800" b="0" i="0" dirty="0">
              <a:solidFill>
                <a:srgbClr val="F9FAFB"/>
              </a:solidFill>
              <a:effectLst/>
              <a:highlight>
                <a:srgbClr val="000000"/>
              </a:highlight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Автоматизирует</a:t>
            </a:r>
            <a:r>
              <a:rPr lang="ru-RU" sz="18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 самый трудоёмкий этап в ML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Ускоряет</a:t>
            </a:r>
            <a:r>
              <a:rPr lang="ru-RU" sz="18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 создание </a:t>
            </a:r>
            <a:r>
              <a:rPr lang="ru-RU" sz="1800" b="0" i="0" dirty="0" err="1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датасетов</a:t>
            </a:r>
            <a:r>
              <a:rPr lang="ru-RU" sz="18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 в </a:t>
            </a:r>
            <a:r>
              <a:rPr lang="ru-RU" sz="18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десятки раз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Позволяет сосредоточиться</a:t>
            </a:r>
            <a:r>
              <a:rPr lang="ru-RU" sz="18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 на разработке алгоритмов, а не на рутине</a:t>
            </a:r>
          </a:p>
          <a:p>
            <a:pPr algn="l"/>
            <a:r>
              <a:rPr lang="ru-RU" sz="18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Будущее проекта:</a:t>
            </a:r>
            <a:r>
              <a:rPr lang="ru-RU" sz="18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+mj-lt"/>
              </a:rPr>
              <a:t> создание полноценной ML-платформы, где от идеи до работающей модели – всего один клик.</a:t>
            </a:r>
          </a:p>
        </p:txBody>
      </p:sp>
      <p:sp>
        <p:nvSpPr>
          <p:cNvPr id="348" name="Google Shape;348;p39"/>
          <p:cNvSpPr txBox="1">
            <a:spLocks noGrp="1"/>
          </p:cNvSpPr>
          <p:nvPr>
            <p:ph type="title"/>
          </p:nvPr>
        </p:nvSpPr>
        <p:spPr>
          <a:xfrm>
            <a:off x="228599" y="467359"/>
            <a:ext cx="3144300" cy="74964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Выводы</a:t>
            </a:r>
            <a:endParaRPr lang="en-US" dirty="0"/>
          </a:p>
        </p:txBody>
      </p:sp>
      <p:cxnSp>
        <p:nvCxnSpPr>
          <p:cNvPr id="349" name="Google Shape;349;p39"/>
          <p:cNvCxnSpPr/>
          <p:nvPr/>
        </p:nvCxnSpPr>
        <p:spPr>
          <a:xfrm>
            <a:off x="317349" y="1216857"/>
            <a:ext cx="27867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335;p39">
            <a:extLst>
              <a:ext uri="{FF2B5EF4-FFF2-40B4-BE49-F238E27FC236}">
                <a16:creationId xmlns:a16="http://schemas.microsoft.com/office/drawing/2014/main" id="{08398252-7005-4ED3-915C-6104737AC0FD}"/>
              </a:ext>
            </a:extLst>
          </p:cNvPr>
          <p:cNvSpPr txBox="1">
            <a:spLocks/>
          </p:cNvSpPr>
          <p:nvPr/>
        </p:nvSpPr>
        <p:spPr>
          <a:xfrm>
            <a:off x="5253946" y="719243"/>
            <a:ext cx="3969172" cy="3705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r>
              <a:rPr lang="ru-RU" sz="2000" b="1" dirty="0">
                <a:solidFill>
                  <a:srgbClr val="F9FAFB"/>
                </a:solidFill>
                <a:highlight>
                  <a:srgbClr val="000000"/>
                </a:highlight>
                <a:latin typeface="+mj-lt"/>
              </a:rPr>
              <a:t>На данный момент готово:</a:t>
            </a:r>
          </a:p>
          <a:p>
            <a:pPr marL="596900" indent="-457200">
              <a:buAutoNum type="arabicParenR"/>
            </a:pPr>
            <a:r>
              <a:rPr lang="ru-RU" sz="2000" b="1" dirty="0">
                <a:solidFill>
                  <a:srgbClr val="F9FAFB"/>
                </a:solidFill>
                <a:highlight>
                  <a:srgbClr val="000000"/>
                </a:highlight>
                <a:latin typeface="+mj-lt"/>
              </a:rPr>
              <a:t>Главный интерфейс программы</a:t>
            </a:r>
          </a:p>
          <a:p>
            <a:pPr marL="596900" indent="-457200">
              <a:buAutoNum type="arabicParenR"/>
            </a:pPr>
            <a:r>
              <a:rPr lang="ru-RU" sz="2000" b="1" dirty="0">
                <a:solidFill>
                  <a:srgbClr val="F9FAFB"/>
                </a:solidFill>
                <a:highlight>
                  <a:srgbClr val="000000"/>
                </a:highlight>
                <a:latin typeface="+mj-lt"/>
              </a:rPr>
              <a:t>1000+ строк кода, которые выполняют функцию фундамента для новых функций и вещей в проекте</a:t>
            </a:r>
          </a:p>
          <a:p>
            <a:pPr marL="596900" indent="-457200">
              <a:buAutoNum type="arabicParenR"/>
            </a:pPr>
            <a:r>
              <a:rPr lang="ru-RU" sz="2000" b="1" dirty="0">
                <a:solidFill>
                  <a:srgbClr val="F9FAFB"/>
                </a:solidFill>
                <a:highlight>
                  <a:srgbClr val="000000"/>
                </a:highlight>
                <a:latin typeface="+mj-lt"/>
              </a:rPr>
              <a:t>Настройка </a:t>
            </a:r>
            <a:r>
              <a:rPr lang="ru-RU" sz="2000" b="1" dirty="0" err="1">
                <a:solidFill>
                  <a:srgbClr val="F9FAFB"/>
                </a:solidFill>
                <a:highlight>
                  <a:srgbClr val="000000"/>
                </a:highlight>
                <a:latin typeface="+mj-lt"/>
              </a:rPr>
              <a:t>датасета</a:t>
            </a:r>
            <a:endParaRPr lang="ru-RU" sz="2000" b="1" dirty="0">
              <a:solidFill>
                <a:srgbClr val="F9FAFB"/>
              </a:solidFill>
              <a:highlight>
                <a:srgbClr val="000000"/>
              </a:highlight>
              <a:latin typeface="+mj-lt"/>
            </a:endParaRPr>
          </a:p>
          <a:p>
            <a:pPr marL="596900" indent="-457200">
              <a:buAutoNum type="arabicParenR"/>
            </a:pPr>
            <a:r>
              <a:rPr lang="ru-RU" sz="2000" b="1" dirty="0">
                <a:solidFill>
                  <a:srgbClr val="F9FAFB"/>
                </a:solidFill>
                <a:highlight>
                  <a:srgbClr val="000000"/>
                </a:highlight>
                <a:latin typeface="+mj-lt"/>
              </a:rPr>
              <a:t>Автоматизация установки изображений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ctric Field Concepts by Slidesgo">
  <a:themeElements>
    <a:clrScheme name="Simple Light">
      <a:dk1>
        <a:srgbClr val="FFFFFF"/>
      </a:dk1>
      <a:lt1>
        <a:srgbClr val="0C0E1D"/>
      </a:lt1>
      <a:dk2>
        <a:srgbClr val="FFFFFF"/>
      </a:dk2>
      <a:lt2>
        <a:srgbClr val="FFFFFF"/>
      </a:lt2>
      <a:accent1>
        <a:srgbClr val="708CB6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638</Words>
  <Application>Microsoft Office PowerPoint</Application>
  <PresentationFormat>Экран (16:9)</PresentationFormat>
  <Paragraphs>82</Paragraphs>
  <Slides>10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Nunito Light</vt:lpstr>
      <vt:lpstr>Rethink Sans</vt:lpstr>
      <vt:lpstr>Catamaran</vt:lpstr>
      <vt:lpstr>Electric Field Concepts by Slidesgo</vt:lpstr>
      <vt:lpstr>MacLearn</vt:lpstr>
      <vt:lpstr>Проблема</vt:lpstr>
      <vt:lpstr>Решение — MacLearn</vt:lpstr>
      <vt:lpstr>Презентация PowerPoint</vt:lpstr>
      <vt:lpstr>Создание датасета</vt:lpstr>
      <vt:lpstr>Технические особенности</vt:lpstr>
      <vt:lpstr>Строение проектов</vt:lpstr>
      <vt:lpstr>Пользователи</vt:lpstr>
      <vt:lpstr>Будущее проекта</vt:lpstr>
      <vt:lpstr>Выводы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MacLearn</dc:title>
  <cp:lastModifiedBy>Artem</cp:lastModifiedBy>
  <cp:revision>28</cp:revision>
  <dcterms:modified xsi:type="dcterms:W3CDTF">2025-11-16T11:34:01Z</dcterms:modified>
</cp:coreProperties>
</file>