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1" r:id="rId1"/>
  </p:sldMasterIdLst>
  <p:notesMasterIdLst>
    <p:notesMasterId r:id="rId11"/>
  </p:notesMasterIdLst>
  <p:sldIdLst>
    <p:sldId id="256" r:id="rId2"/>
    <p:sldId id="288" r:id="rId3"/>
    <p:sldId id="289" r:id="rId4"/>
    <p:sldId id="290" r:id="rId5"/>
    <p:sldId id="291" r:id="rId6"/>
    <p:sldId id="259" r:id="rId7"/>
    <p:sldId id="260" r:id="rId8"/>
    <p:sldId id="292" r:id="rId9"/>
    <p:sldId id="269" r:id="rId10"/>
  </p:sldIdLst>
  <p:sldSz cx="9144000" cy="5143500" type="screen16x9"/>
  <p:notesSz cx="6858000" cy="9144000"/>
  <p:embeddedFontLst>
    <p:embeddedFont>
      <p:font typeface="Bahnschrift SemiLight SemiConde" panose="020B0502040204020203" pitchFamily="34" charset="0"/>
      <p:regular r:id="rId12"/>
    </p:embeddedFont>
    <p:embeddedFont>
      <p:font typeface="Catamaran" panose="020B0604020202020204" charset="0"/>
      <p:regular r:id="rId13"/>
      <p:bold r:id="rId14"/>
    </p:embeddedFont>
    <p:embeddedFont>
      <p:font typeface="Nunito Light" pitchFamily="2" charset="-52"/>
      <p:regular r:id="rId15"/>
      <p:italic r:id="rId16"/>
    </p:embeddedFont>
    <p:embeddedFont>
      <p:font typeface="Rethink Sans" panose="020B0604020202020204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026A597-F1D0-4693-800B-CC319C112E93}">
  <a:tblStyle styleId="{3026A597-F1D0-4693-800B-CC319C112E9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B3EBF73E-21D8-4B0F-B23B-22DA3B1CFB0C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1" d="100"/>
          <a:sy n="141" d="100"/>
        </p:scale>
        <p:origin x="74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14072739ea5_1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14072739ea5_1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135e18421cc_13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" name="Google Shape;333;g135e18421cc_13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A1uf1Q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 title="bk1 glass.png"/>
          <p:cNvPicPr preferRelativeResize="0"/>
          <p:nvPr/>
        </p:nvPicPr>
        <p:blipFill rotWithShape="1">
          <a:blip r:embed="rId2">
            <a:alphaModFix/>
          </a:blip>
          <a:srcRect r="10"/>
          <a:stretch/>
        </p:blipFill>
        <p:spPr>
          <a:xfrm>
            <a:off x="0" y="-425"/>
            <a:ext cx="9144000" cy="514392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228600" y="228600"/>
            <a:ext cx="5173800" cy="3088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228600" y="3469350"/>
            <a:ext cx="5173800" cy="144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3" title="bk2 blur.png"/>
          <p:cNvPicPr preferRelativeResize="0"/>
          <p:nvPr/>
        </p:nvPicPr>
        <p:blipFill rotWithShape="1">
          <a:blip r:embed="rId2">
            <a:alphaModFix/>
          </a:blip>
          <a:srcRect t="4662" r="4680"/>
          <a:stretch/>
        </p:blipFill>
        <p:spPr>
          <a:xfrm>
            <a:off x="0" y="-212"/>
            <a:ext cx="9144000" cy="5143924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899650" y="228600"/>
            <a:ext cx="5015700" cy="106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2" hasCustomPrompt="1"/>
          </p:nvPr>
        </p:nvSpPr>
        <p:spPr>
          <a:xfrm>
            <a:off x="7263500" y="3910775"/>
            <a:ext cx="1652100" cy="978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899900" y="1445825"/>
            <a:ext cx="5015700" cy="10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5576325" y="3288188"/>
            <a:ext cx="2530500" cy="52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 sz="1000"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subTitle" idx="1"/>
          </p:nvPr>
        </p:nvSpPr>
        <p:spPr>
          <a:xfrm>
            <a:off x="720000" y="1700300"/>
            <a:ext cx="3674100" cy="229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30" name="Google Shape;30;p7"/>
          <p:cNvSpPr>
            <a:spLocks noGrp="1"/>
          </p:cNvSpPr>
          <p:nvPr>
            <p:ph type="pic" idx="2"/>
          </p:nvPr>
        </p:nvSpPr>
        <p:spPr>
          <a:xfrm>
            <a:off x="5175575" y="1336375"/>
            <a:ext cx="3255300" cy="2982600"/>
          </a:xfrm>
          <a:prstGeom prst="rect">
            <a:avLst/>
          </a:prstGeom>
          <a:noFill/>
          <a:ln>
            <a:noFill/>
          </a:ln>
        </p:spPr>
      </p:sp>
      <p:sp>
        <p:nvSpPr>
          <p:cNvPr id="31" name="Google Shape;31;p7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8" title="bk2 blur.png"/>
          <p:cNvPicPr preferRelativeResize="0"/>
          <p:nvPr/>
        </p:nvPicPr>
        <p:blipFill rotWithShape="1">
          <a:blip r:embed="rId2">
            <a:alphaModFix/>
          </a:blip>
          <a:srcRect t="4662" r="4680"/>
          <a:stretch/>
        </p:blipFill>
        <p:spPr>
          <a:xfrm>
            <a:off x="0" y="-212"/>
            <a:ext cx="9144000" cy="5143924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1768550" y="1307100"/>
            <a:ext cx="56070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oogle Shape;36;p9" title="bk2 blur.png"/>
          <p:cNvPicPr preferRelativeResize="0"/>
          <p:nvPr/>
        </p:nvPicPr>
        <p:blipFill rotWithShape="1">
          <a:blip r:embed="rId2">
            <a:alphaModFix/>
          </a:blip>
          <a:srcRect t="4662" r="4680"/>
          <a:stretch/>
        </p:blipFill>
        <p:spPr>
          <a:xfrm>
            <a:off x="0" y="-212"/>
            <a:ext cx="9144000" cy="5143924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3523950" y="1655488"/>
            <a:ext cx="4872900" cy="116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65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3523950" y="2816913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0"/>
          <p:cNvSpPr>
            <a:spLocks noGrp="1"/>
          </p:cNvSpPr>
          <p:nvPr>
            <p:ph type="pic" idx="2"/>
          </p:nvPr>
        </p:nvSpPr>
        <p:spPr>
          <a:xfrm>
            <a:off x="-25" y="-13725"/>
            <a:ext cx="9144000" cy="5157300"/>
          </a:xfrm>
          <a:prstGeom prst="rect">
            <a:avLst/>
          </a:prstGeom>
          <a:noFill/>
          <a:ln>
            <a:noFill/>
          </a:ln>
        </p:spPr>
      </p:sp>
      <p:sp>
        <p:nvSpPr>
          <p:cNvPr id="41" name="Google Shape;41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3;p11" title="bk3 blur.png"/>
          <p:cNvPicPr preferRelativeResize="0"/>
          <p:nvPr/>
        </p:nvPicPr>
        <p:blipFill rotWithShape="1">
          <a:blip r:embed="rId2">
            <a:alphaModFix/>
          </a:blip>
          <a:srcRect r="10"/>
          <a:stretch/>
        </p:blipFill>
        <p:spPr>
          <a:xfrm>
            <a:off x="0" y="-425"/>
            <a:ext cx="9144000" cy="5143924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283550"/>
            <a:ext cx="5528700" cy="171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600"/>
              <a:buNone/>
              <a:defRPr sz="60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600"/>
              <a:buNone/>
              <a:defRPr sz="9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600"/>
              <a:buNone/>
              <a:defRPr sz="9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600"/>
              <a:buNone/>
              <a:defRPr sz="9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600"/>
              <a:buNone/>
              <a:defRPr sz="9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600"/>
              <a:buNone/>
              <a:defRPr sz="9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600"/>
              <a:buNone/>
              <a:defRPr sz="9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600"/>
              <a:buNone/>
              <a:defRPr sz="9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600"/>
              <a:buNone/>
              <a:defRPr sz="9600">
                <a:solidFill>
                  <a:schemeClr val="accen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5" name="Google Shape;45;p11"/>
          <p:cNvSpPr txBox="1">
            <a:spLocks noGrp="1"/>
          </p:cNvSpPr>
          <p:nvPr>
            <p:ph type="subTitle" idx="1"/>
          </p:nvPr>
        </p:nvSpPr>
        <p:spPr>
          <a:xfrm>
            <a:off x="1284000" y="3000100"/>
            <a:ext cx="55287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_AND_TWO_COLUMNS_1_1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4" title="bk3 blur.png"/>
          <p:cNvPicPr preferRelativeResize="0"/>
          <p:nvPr/>
        </p:nvPicPr>
        <p:blipFill rotWithShape="1">
          <a:blip r:embed="rId2">
            <a:alphaModFix/>
          </a:blip>
          <a:srcRect r="10"/>
          <a:stretch/>
        </p:blipFill>
        <p:spPr>
          <a:xfrm>
            <a:off x="0" y="-425"/>
            <a:ext cx="9144000" cy="5143924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4"/>
          <p:cNvSpPr txBox="1">
            <a:spLocks noGrp="1"/>
          </p:cNvSpPr>
          <p:nvPr>
            <p:ph type="subTitle" idx="1"/>
          </p:nvPr>
        </p:nvSpPr>
        <p:spPr>
          <a:xfrm>
            <a:off x="4427825" y="228595"/>
            <a:ext cx="4487400" cy="4309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4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3441600" cy="445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ONE_COLUMN_TEXT_1_1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6" title="bk3 blur reflect.png"/>
          <p:cNvPicPr preferRelativeResize="0"/>
          <p:nvPr/>
        </p:nvPicPr>
        <p:blipFill rotWithShape="1">
          <a:blip r:embed="rId2">
            <a:alphaModFix/>
          </a:blip>
          <a:srcRect r="10"/>
          <a:stretch/>
        </p:blipFill>
        <p:spPr>
          <a:xfrm>
            <a:off x="0" y="-425"/>
            <a:ext cx="9144000" cy="5143924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16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9" title="bk1 glass.png"/>
          <p:cNvPicPr preferRelativeResize="0"/>
          <p:nvPr/>
        </p:nvPicPr>
        <p:blipFill rotWithShape="1">
          <a:blip r:embed="rId2">
            <a:alphaModFix/>
          </a:blip>
          <a:srcRect r="10"/>
          <a:stretch/>
        </p:blipFill>
        <p:spPr>
          <a:xfrm>
            <a:off x="0" y="-425"/>
            <a:ext cx="9144000" cy="5143924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9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3144300" cy="132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9"/>
          <p:cNvSpPr txBox="1">
            <a:spLocks noGrp="1"/>
          </p:cNvSpPr>
          <p:nvPr>
            <p:ph type="subTitle" idx="1"/>
          </p:nvPr>
        </p:nvSpPr>
        <p:spPr>
          <a:xfrm>
            <a:off x="228600" y="1736225"/>
            <a:ext cx="3144300" cy="135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9"/>
          <p:cNvSpPr txBox="1"/>
          <p:nvPr/>
        </p:nvSpPr>
        <p:spPr>
          <a:xfrm>
            <a:off x="228600" y="3683725"/>
            <a:ext cx="42546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CREDITS:</a:t>
            </a:r>
            <a:r>
              <a:rPr lang="en" sz="12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 This presentation template was created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Catamaran"/>
                <a:ea typeface="Catamaran"/>
                <a:cs typeface="Catamaran"/>
                <a:sym typeface="Catamaran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, and includes icons, infographics &amp; images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Catamaran"/>
                <a:ea typeface="Catamaran"/>
                <a:cs typeface="Catamaran"/>
                <a:sym typeface="Catamaran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rPr>
              <a:t> </a:t>
            </a:r>
            <a:endParaRPr sz="1200" b="1">
              <a:solidFill>
                <a:schemeClr val="dk1"/>
              </a:solidFill>
              <a:latin typeface="Catamaran"/>
              <a:ea typeface="Catamaran"/>
              <a:cs typeface="Catamaran"/>
              <a:sym typeface="Catamaran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0" title="bk1 glass.png"/>
          <p:cNvPicPr preferRelativeResize="0"/>
          <p:nvPr/>
        </p:nvPicPr>
        <p:blipFill rotWithShape="1">
          <a:blip r:embed="rId2">
            <a:alphaModFix/>
          </a:blip>
          <a:srcRect r="10"/>
          <a:stretch/>
        </p:blipFill>
        <p:spPr>
          <a:xfrm>
            <a:off x="0" y="-425"/>
            <a:ext cx="9144000" cy="5143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21" title="bk2 blur.png"/>
          <p:cNvPicPr preferRelativeResize="0"/>
          <p:nvPr/>
        </p:nvPicPr>
        <p:blipFill rotWithShape="1">
          <a:blip r:embed="rId2">
            <a:alphaModFix/>
          </a:blip>
          <a:srcRect t="4662" r="4680"/>
          <a:stretch/>
        </p:blipFill>
        <p:spPr>
          <a:xfrm>
            <a:off x="0" y="-212"/>
            <a:ext cx="9144000" cy="5143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ethink Sans"/>
              <a:buNone/>
              <a:defRPr sz="3000" b="1">
                <a:solidFill>
                  <a:schemeClr val="dk1"/>
                </a:solidFill>
                <a:latin typeface="Rethink Sans"/>
                <a:ea typeface="Rethink Sans"/>
                <a:cs typeface="Rethink Sans"/>
                <a:sym typeface="Rethink Sans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ethink Sans"/>
              <a:buNone/>
              <a:defRPr sz="3000" b="1">
                <a:solidFill>
                  <a:schemeClr val="dk1"/>
                </a:solidFill>
                <a:latin typeface="Rethink Sans"/>
                <a:ea typeface="Rethink Sans"/>
                <a:cs typeface="Rethink Sans"/>
                <a:sym typeface="Rethink Sans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ethink Sans"/>
              <a:buNone/>
              <a:defRPr sz="3000" b="1">
                <a:solidFill>
                  <a:schemeClr val="dk1"/>
                </a:solidFill>
                <a:latin typeface="Rethink Sans"/>
                <a:ea typeface="Rethink Sans"/>
                <a:cs typeface="Rethink Sans"/>
                <a:sym typeface="Rethink Sans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ethink Sans"/>
              <a:buNone/>
              <a:defRPr sz="3000" b="1">
                <a:solidFill>
                  <a:schemeClr val="dk1"/>
                </a:solidFill>
                <a:latin typeface="Rethink Sans"/>
                <a:ea typeface="Rethink Sans"/>
                <a:cs typeface="Rethink Sans"/>
                <a:sym typeface="Rethink Sans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ethink Sans"/>
              <a:buNone/>
              <a:defRPr sz="3000" b="1">
                <a:solidFill>
                  <a:schemeClr val="dk1"/>
                </a:solidFill>
                <a:latin typeface="Rethink Sans"/>
                <a:ea typeface="Rethink Sans"/>
                <a:cs typeface="Rethink Sans"/>
                <a:sym typeface="Rethink Sans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ethink Sans"/>
              <a:buNone/>
              <a:defRPr sz="3000" b="1">
                <a:solidFill>
                  <a:schemeClr val="dk1"/>
                </a:solidFill>
                <a:latin typeface="Rethink Sans"/>
                <a:ea typeface="Rethink Sans"/>
                <a:cs typeface="Rethink Sans"/>
                <a:sym typeface="Rethink Sans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ethink Sans"/>
              <a:buNone/>
              <a:defRPr sz="3000" b="1">
                <a:solidFill>
                  <a:schemeClr val="dk1"/>
                </a:solidFill>
                <a:latin typeface="Rethink Sans"/>
                <a:ea typeface="Rethink Sans"/>
                <a:cs typeface="Rethink Sans"/>
                <a:sym typeface="Rethink Sans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ethink Sans"/>
              <a:buNone/>
              <a:defRPr sz="3000" b="1">
                <a:solidFill>
                  <a:schemeClr val="dk1"/>
                </a:solidFill>
                <a:latin typeface="Rethink Sans"/>
                <a:ea typeface="Rethink Sans"/>
                <a:cs typeface="Rethink Sans"/>
                <a:sym typeface="Rethink Sans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ethink Sans"/>
              <a:buNone/>
              <a:defRPr sz="3000" b="1">
                <a:solidFill>
                  <a:schemeClr val="dk1"/>
                </a:solidFill>
                <a:latin typeface="Rethink Sans"/>
                <a:ea typeface="Rethink Sans"/>
                <a:cs typeface="Rethink Sans"/>
                <a:sym typeface="Rethink Sa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●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○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■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●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○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■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●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○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Char char="■"/>
              <a:defRPr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60" r:id="rId10"/>
    <p:sldLayoutId id="2147483662" r:id="rId11"/>
    <p:sldLayoutId id="2147483665" r:id="rId12"/>
    <p:sldLayoutId id="2147483666" r:id="rId13"/>
    <p:sldLayoutId id="2147483667" r:id="rId1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6"/>
          <p:cNvSpPr txBox="1">
            <a:spLocks noGrp="1"/>
          </p:cNvSpPr>
          <p:nvPr>
            <p:ph type="ctrTitle"/>
          </p:nvPr>
        </p:nvSpPr>
        <p:spPr>
          <a:xfrm>
            <a:off x="228600" y="1219200"/>
            <a:ext cx="3663188" cy="116318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MacLearn</a:t>
            </a:r>
            <a:endParaRPr lang="en-US" dirty="0"/>
          </a:p>
        </p:txBody>
      </p:sp>
      <p:sp>
        <p:nvSpPr>
          <p:cNvPr id="119" name="Google Shape;119;p26"/>
          <p:cNvSpPr txBox="1">
            <a:spLocks noGrp="1"/>
          </p:cNvSpPr>
          <p:nvPr>
            <p:ph type="subTitle" idx="1"/>
          </p:nvPr>
        </p:nvSpPr>
        <p:spPr>
          <a:xfrm>
            <a:off x="228600" y="2534630"/>
            <a:ext cx="3909907" cy="74366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Автоматизация сбора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датасетов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для компьютерного зрения.</a:t>
            </a:r>
            <a:endParaRPr dirty="0"/>
          </a:p>
        </p:txBody>
      </p:sp>
      <p:cxnSp>
        <p:nvCxnSpPr>
          <p:cNvPr id="120" name="Google Shape;120;p26"/>
          <p:cNvCxnSpPr>
            <a:cxnSpLocks/>
          </p:cNvCxnSpPr>
          <p:nvPr/>
        </p:nvCxnSpPr>
        <p:spPr>
          <a:xfrm>
            <a:off x="313775" y="2382230"/>
            <a:ext cx="3492838" cy="15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4408621-ACE0-4EB4-AC97-4C305CFC53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1788" y="228599"/>
            <a:ext cx="5024946" cy="4164820"/>
          </a:xfrm>
          <a:prstGeom prst="rect">
            <a:avLst/>
          </a:prstGeom>
        </p:spPr>
      </p:pic>
      <p:sp>
        <p:nvSpPr>
          <p:cNvPr id="8" name="Google Shape;119;p26">
            <a:extLst>
              <a:ext uri="{FF2B5EF4-FFF2-40B4-BE49-F238E27FC236}">
                <a16:creationId xmlns:a16="http://schemas.microsoft.com/office/drawing/2014/main" id="{CC044C24-FE02-452F-A89C-37CF76055A3C}"/>
              </a:ext>
            </a:extLst>
          </p:cNvPr>
          <p:cNvSpPr txBox="1">
            <a:spLocks/>
          </p:cNvSpPr>
          <p:nvPr/>
        </p:nvSpPr>
        <p:spPr>
          <a:xfrm>
            <a:off x="1466935" y="3684535"/>
            <a:ext cx="2424853" cy="708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6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tamaran"/>
              <a:buNone/>
              <a:defRPr sz="18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tamaran"/>
              <a:buNone/>
              <a:defRPr sz="18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tamaran"/>
              <a:buNone/>
              <a:defRPr sz="18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tamaran"/>
              <a:buNone/>
              <a:defRPr sz="18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tamaran"/>
              <a:buNone/>
              <a:defRPr sz="18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tamaran"/>
              <a:buNone/>
              <a:defRPr sz="18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tamaran"/>
              <a:buNone/>
              <a:defRPr sz="18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tamaran"/>
              <a:buNone/>
              <a:defRPr sz="18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pPr marL="0" indent="0" algn="r"/>
            <a:r>
              <a:rPr lang="ru-RU" dirty="0">
                <a:solidFill>
                  <a:srgbClr val="F9FAFB"/>
                </a:solidFill>
                <a:latin typeface="quote-cjk-patch"/>
              </a:rPr>
              <a:t>Автор: </a:t>
            </a:r>
            <a:r>
              <a:rPr lang="ru-RU" dirty="0" err="1">
                <a:solidFill>
                  <a:srgbClr val="F9FAFB"/>
                </a:solidFill>
                <a:latin typeface="quote-cjk-patch"/>
              </a:rPr>
              <a:t>Минибаев</a:t>
            </a:r>
            <a:r>
              <a:rPr lang="ru-RU" dirty="0">
                <a:solidFill>
                  <a:srgbClr val="F9FAFB"/>
                </a:solidFill>
                <a:latin typeface="quote-cjk-patch"/>
              </a:rPr>
              <a:t> Артём, МБОУ «Лицей №2» 9кл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C3E6E1A8-E000-424F-B02D-0AAFC35C5C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1501" y="1362710"/>
            <a:ext cx="5631092" cy="2702560"/>
          </a:xfrm>
        </p:spPr>
        <p:txBody>
          <a:bodyPr/>
          <a:lstStyle/>
          <a:p>
            <a:pPr marL="139700" indent="0">
              <a:buNone/>
            </a:pPr>
            <a:r>
              <a:rPr lang="ru-RU" sz="1700" dirty="0">
                <a:latin typeface="Bahnschrift SemiLight SemiConde" panose="020B0502040204020203" pitchFamily="34" charset="0"/>
              </a:rPr>
              <a:t>Однажды занимаясь изучением машинного зрения я заметил в этом большую проблему – сборка </a:t>
            </a:r>
            <a:r>
              <a:rPr lang="ru-RU" sz="1700" dirty="0" err="1">
                <a:latin typeface="Bahnschrift SemiLight SemiConde" panose="020B0502040204020203" pitchFamily="34" charset="0"/>
              </a:rPr>
              <a:t>датасета</a:t>
            </a:r>
            <a:r>
              <a:rPr lang="ru-RU" sz="1700" dirty="0">
                <a:latin typeface="Bahnschrift SemiLight SemiConde" panose="020B0502040204020203" pitchFamily="34" charset="0"/>
              </a:rPr>
              <a:t>, а разработка моделей компьютерного зрения начинается как раз с данных и сильно зависит от них.</a:t>
            </a:r>
          </a:p>
          <a:p>
            <a:r>
              <a:rPr lang="ru-RU" sz="1700" dirty="0">
                <a:latin typeface="Bahnschrift SemiLight SemiConde" panose="020B0502040204020203" pitchFamily="34" charset="0"/>
              </a:rPr>
              <a:t>Ручной сбор и разметка тысяч изображений — это:</a:t>
            </a:r>
          </a:p>
          <a:p>
            <a:pPr lvl="1"/>
            <a:r>
              <a:rPr lang="ru-RU" sz="1700" dirty="0">
                <a:latin typeface="Bahnschrift SemiLight SemiConde" panose="020B0502040204020203" pitchFamily="34" charset="0"/>
              </a:rPr>
              <a:t>Трудоёмко и рутинно</a:t>
            </a:r>
          </a:p>
          <a:p>
            <a:pPr lvl="1"/>
            <a:r>
              <a:rPr lang="ru-RU" sz="1700" dirty="0">
                <a:latin typeface="Bahnschrift SemiLight SemiConde" panose="020B0502040204020203" pitchFamily="34" charset="0"/>
              </a:rPr>
              <a:t>Дорого в плане времени</a:t>
            </a:r>
          </a:p>
          <a:p>
            <a:pPr lvl="1"/>
            <a:r>
              <a:rPr lang="ru-RU" sz="1700" dirty="0">
                <a:latin typeface="Bahnschrift SemiLight SemiConde" panose="020B0502040204020203" pitchFamily="34" charset="0"/>
              </a:rPr>
              <a:t>«Чем больше тем лучше» - что не даёт сократить тебе кол-во изображений</a:t>
            </a: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A803FB92-FB2A-4BE6-BCC0-CCBC6F0C8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Проблема</a:t>
            </a:r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AD45F000-3ABE-44F8-B867-87086A8D5B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2593" y="1222586"/>
            <a:ext cx="2982807" cy="2982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10258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4260EE-C178-4DC8-B826-E994E830D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Решение — </a:t>
            </a:r>
            <a:r>
              <a:rPr lang="en-US" dirty="0" err="1"/>
              <a:t>MacLearn</a:t>
            </a:r>
            <a:endParaRPr lang="ru-RU" dirty="0"/>
          </a:p>
        </p:txBody>
      </p:sp>
      <p:sp>
        <p:nvSpPr>
          <p:cNvPr id="6" name="Текст 1">
            <a:extLst>
              <a:ext uri="{FF2B5EF4-FFF2-40B4-BE49-F238E27FC236}">
                <a16:creationId xmlns:a16="http://schemas.microsoft.com/office/drawing/2014/main" id="{AC7688AE-16A4-4317-B925-4EBC379322E1}"/>
              </a:ext>
            </a:extLst>
          </p:cNvPr>
          <p:cNvSpPr txBox="1">
            <a:spLocks/>
          </p:cNvSpPr>
          <p:nvPr/>
        </p:nvSpPr>
        <p:spPr>
          <a:xfrm>
            <a:off x="228600" y="827284"/>
            <a:ext cx="4688840" cy="3964764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39700"/>
            <a:r>
              <a:rPr lang="ru-RU" sz="1800" dirty="0">
                <a:solidFill>
                  <a:schemeClr val="tx1"/>
                </a:solidFill>
                <a:latin typeface="Bahnschrift SemiLight SemiConde" panose="020B0502040204020203" pitchFamily="34" charset="0"/>
                <a:cs typeface="Catamaran" panose="020B0604020202020204" charset="0"/>
              </a:rPr>
              <a:t>MacLearn — это программа для автоматического сбора и подготовки качественных </a:t>
            </a:r>
            <a:r>
              <a:rPr lang="ru-RU" sz="1800" dirty="0" err="1">
                <a:solidFill>
                  <a:schemeClr val="tx1"/>
                </a:solidFill>
                <a:latin typeface="Bahnschrift SemiLight SemiConde" panose="020B0502040204020203" pitchFamily="34" charset="0"/>
                <a:cs typeface="Catamaran" panose="020B0604020202020204" charset="0"/>
              </a:rPr>
              <a:t>датасетов</a:t>
            </a:r>
            <a:r>
              <a:rPr lang="ru-RU" sz="1800" dirty="0">
                <a:solidFill>
                  <a:schemeClr val="tx1"/>
                </a:solidFill>
                <a:latin typeface="Bahnschrift SemiLight SemiConde" panose="020B0502040204020203" pitchFamily="34" charset="0"/>
                <a:cs typeface="Catamaran" panose="020B0604020202020204" charset="0"/>
              </a:rPr>
              <a:t> из изображений, скачанных из интернета.</a:t>
            </a:r>
          </a:p>
          <a:p>
            <a:pPr marL="139700"/>
            <a:endParaRPr lang="en-US" sz="1800" dirty="0">
              <a:solidFill>
                <a:schemeClr val="tx1"/>
              </a:solidFill>
              <a:latin typeface="Bahnschrift SemiLight SemiConde" panose="020B0502040204020203" pitchFamily="34" charset="0"/>
              <a:cs typeface="Catamaran" panose="020B0604020202020204" charset="0"/>
            </a:endParaRPr>
          </a:p>
          <a:p>
            <a:pPr marL="139700"/>
            <a:r>
              <a:rPr lang="ru-RU" sz="1800" dirty="0">
                <a:solidFill>
                  <a:schemeClr val="tx1"/>
                </a:solidFill>
                <a:latin typeface="Bahnschrift SemiLight SemiConde" panose="020B0502040204020203" pitchFamily="34" charset="0"/>
                <a:cs typeface="Catamaran" panose="020B0604020202020204" charset="0"/>
              </a:rPr>
              <a:t>От разработчика модели машинного зрения будет требоваться </a:t>
            </a:r>
            <a:r>
              <a:rPr lang="ru-RU" sz="1800" dirty="0" err="1">
                <a:solidFill>
                  <a:schemeClr val="tx1"/>
                </a:solidFill>
                <a:latin typeface="Bahnschrift SemiLight SemiConde" panose="020B0502040204020203" pitchFamily="34" charset="0"/>
                <a:cs typeface="Catamaran" panose="020B0604020202020204" charset="0"/>
              </a:rPr>
              <a:t>всего-лишь</a:t>
            </a:r>
            <a:r>
              <a:rPr lang="ru-RU" sz="1800" dirty="0">
                <a:solidFill>
                  <a:schemeClr val="tx1"/>
                </a:solidFill>
                <a:latin typeface="Bahnschrift SemiLight SemiConde" panose="020B0502040204020203" pitchFamily="34" charset="0"/>
                <a:cs typeface="Catamaran" panose="020B0604020202020204" charset="0"/>
              </a:rPr>
              <a:t> настроить «проект», запустить процесс создания данных, после получения сделать экспорт в нужном формате и готово, можно сразу тренировать модель.</a:t>
            </a:r>
          </a:p>
          <a:p>
            <a:pPr marL="139700"/>
            <a:endParaRPr lang="ru-RU" sz="1800" dirty="0">
              <a:solidFill>
                <a:schemeClr val="tx1"/>
              </a:solidFill>
              <a:latin typeface="Bahnschrift SemiLight SemiConde" panose="020B0502040204020203" pitchFamily="34" charset="0"/>
              <a:cs typeface="Catamaran" panose="020B0604020202020204" charset="0"/>
            </a:endParaRPr>
          </a:p>
          <a:p>
            <a:pPr marL="139700"/>
            <a:r>
              <a:rPr lang="ru-RU" sz="1800" dirty="0">
                <a:solidFill>
                  <a:schemeClr val="tx1"/>
                </a:solidFill>
                <a:latin typeface="Bahnschrift SemiLight SemiConde" panose="020B0502040204020203" pitchFamily="34" charset="0"/>
                <a:cs typeface="Catamaran" panose="020B0604020202020204" charset="0"/>
              </a:rPr>
              <a:t>Это должно сильно экономить время разработки и получать результат сразу.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1204D15-EED4-4B70-8B24-EB9CEAA7A6F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407"/>
          <a:stretch/>
        </p:blipFill>
        <p:spPr>
          <a:xfrm>
            <a:off x="4984004" y="1047333"/>
            <a:ext cx="4159996" cy="3524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1444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E0B5AC-612E-4434-9CF1-B5ADE23631EE}"/>
              </a:ext>
            </a:extLst>
          </p:cNvPr>
          <p:cNvSpPr txBox="1">
            <a:spLocks/>
          </p:cNvSpPr>
          <p:nvPr/>
        </p:nvSpPr>
        <p:spPr>
          <a:xfrm>
            <a:off x="228600" y="228600"/>
            <a:ext cx="8686800" cy="5727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3000" b="1" dirty="0">
                <a:solidFill>
                  <a:schemeClr val="tx1"/>
                </a:solidFill>
                <a:latin typeface="Rethink Sans" panose="020B0604020202020204" charset="0"/>
              </a:rPr>
              <a:t>О программе</a:t>
            </a:r>
          </a:p>
        </p:txBody>
      </p:sp>
      <p:sp>
        <p:nvSpPr>
          <p:cNvPr id="3" name="Текст 1">
            <a:extLst>
              <a:ext uri="{FF2B5EF4-FFF2-40B4-BE49-F238E27FC236}">
                <a16:creationId xmlns:a16="http://schemas.microsoft.com/office/drawing/2014/main" id="{93FD3F25-53CD-40BD-A8F8-4DCD39693873}"/>
              </a:ext>
            </a:extLst>
          </p:cNvPr>
          <p:cNvSpPr txBox="1">
            <a:spLocks/>
          </p:cNvSpPr>
          <p:nvPr/>
        </p:nvSpPr>
        <p:spPr>
          <a:xfrm>
            <a:off x="744219" y="852769"/>
            <a:ext cx="7655561" cy="4062131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39700"/>
            <a:r>
              <a:rPr lang="ru-RU" sz="1600" dirty="0">
                <a:solidFill>
                  <a:schemeClr val="tx1"/>
                </a:solidFill>
                <a:highlight>
                  <a:srgbClr val="000000"/>
                </a:highlight>
                <a:latin typeface="Bahnschrift SemiLight SemiConde" panose="020B0502040204020203" pitchFamily="34" charset="0"/>
                <a:cs typeface="Catamaran" panose="020B0604020202020204" charset="0"/>
              </a:rPr>
              <a:t>Ключевые возможности программы: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Bahnschrift SemiLight SemiConde" panose="020B0502040204020203" pitchFamily="34" charset="0"/>
              </a:rPr>
              <a:t>🚀 Быстрый сбор данных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Bahnschrift SemiLight SemiConde" panose="020B0502040204020203" pitchFamily="34" charset="0"/>
              </a:rPr>
              <a:t>Тысячи изображений за часы вместо недель ручной работы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Bahnschrift SemiLight SemiConde" panose="020B0502040204020203" pitchFamily="34" charset="0"/>
              </a:rPr>
              <a:t>Создание полного </a:t>
            </a:r>
            <a:r>
              <a:rPr lang="ru-RU" sz="1600" b="0" i="0" dirty="0" err="1">
                <a:solidFill>
                  <a:srgbClr val="F9FAFB"/>
                </a:solidFill>
                <a:effectLst/>
                <a:highlight>
                  <a:srgbClr val="000000"/>
                </a:highlight>
                <a:latin typeface="Bahnschrift SemiLight SemiConde" panose="020B0502040204020203" pitchFamily="34" charset="0"/>
              </a:rPr>
              <a:t>датасета</a:t>
            </a:r>
            <a:r>
              <a:rPr lang="ru-RU" sz="16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Bahnschrift SemiLight SemiConde" panose="020B0502040204020203" pitchFamily="34" charset="0"/>
              </a:rPr>
              <a:t> на 5000+ изображений в течение 1 дня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sz="1600" b="0" i="0" dirty="0">
              <a:solidFill>
                <a:srgbClr val="F9FAFB"/>
              </a:solidFill>
              <a:effectLst/>
              <a:highlight>
                <a:srgbClr val="000000"/>
              </a:highlight>
              <a:latin typeface="Bahnschrift SemiLight SemiConde" panose="020B0502040204020203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Bahnschrift SemiLight SemiConde" panose="020B0502040204020203" pitchFamily="34" charset="0"/>
              </a:rPr>
              <a:t>🎯 Качественная разметка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Bahnschrift SemiLight SemiConde" panose="020B0502040204020203" pitchFamily="34" charset="0"/>
              </a:rPr>
              <a:t>Автоматическая структуризация по классам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Bahnschrift SemiLight SemiConde" panose="020B0502040204020203" pitchFamily="34" charset="0"/>
              </a:rPr>
              <a:t>Поддержка сложных поисковых запросов с множеством вариаций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Bahnschrift SemiLight SemiConde" panose="020B0502040204020203" pitchFamily="34" charset="0"/>
              </a:rPr>
              <a:t>Чёткая организация данных для обучения моделей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sz="1600" b="0" i="0" dirty="0">
              <a:solidFill>
                <a:srgbClr val="F9FAFB"/>
              </a:solidFill>
              <a:effectLst/>
              <a:highlight>
                <a:srgbClr val="000000"/>
              </a:highlight>
              <a:latin typeface="Bahnschrift SemiLight SemiConde" panose="020B0502040204020203" pitchFamily="34" charset="0"/>
            </a:endParaRPr>
          </a:p>
          <a:p>
            <a:pPr lvl="2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Bahnschrift SemiLight SemiConde" panose="020B0502040204020203" pitchFamily="34" charset="0"/>
              </a:rPr>
              <a:t>🤖 Автоматическая аугментация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Bahnschrift SemiLight SemiConde" panose="020B0502040204020203" pitchFamily="34" charset="0"/>
              </a:rPr>
              <a:t>Генерация +4 вариаций для каждого исходного изображения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Bahnschrift SemiLight SemiConde" panose="020B0502040204020203" pitchFamily="34" charset="0"/>
              </a:rPr>
              <a:t>Повышение разнообразия данных для лучшего обучения моделей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Bahnschrift SemiLight SemiConde" panose="020B0502040204020203" pitchFamily="34" charset="0"/>
              </a:rPr>
              <a:t>Увеличение размера </a:t>
            </a:r>
            <a:r>
              <a:rPr lang="ru-RU" sz="1600" b="0" i="0" dirty="0" err="1">
                <a:solidFill>
                  <a:srgbClr val="F9FAFB"/>
                </a:solidFill>
                <a:effectLst/>
                <a:highlight>
                  <a:srgbClr val="000000"/>
                </a:highlight>
                <a:latin typeface="Bahnschrift SemiLight SemiConde" panose="020B0502040204020203" pitchFamily="34" charset="0"/>
              </a:rPr>
              <a:t>датасета</a:t>
            </a:r>
            <a:r>
              <a:rPr lang="ru-RU" sz="16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Bahnschrift SemiLight SemiConde" panose="020B0502040204020203" pitchFamily="34" charset="0"/>
              </a:rPr>
              <a:t> без дополнительного ручного труда</a:t>
            </a:r>
          </a:p>
        </p:txBody>
      </p:sp>
    </p:spTree>
    <p:extLst>
      <p:ext uri="{BB962C8B-B14F-4D97-AF65-F5344CB8AC3E}">
        <p14:creationId xmlns:p14="http://schemas.microsoft.com/office/powerpoint/2010/main" val="30874702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B55342-586E-478B-B586-063427841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800" cy="572700"/>
          </a:xfrm>
        </p:spPr>
        <p:txBody>
          <a:bodyPr/>
          <a:lstStyle/>
          <a:p>
            <a:r>
              <a:rPr lang="ru-RU" dirty="0"/>
              <a:t>Создание </a:t>
            </a:r>
            <a:r>
              <a:rPr lang="ru-RU" dirty="0" err="1"/>
              <a:t>датасета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738F04-8266-41C5-AF4A-7A7AF673CD92}"/>
              </a:ext>
            </a:extLst>
          </p:cNvPr>
          <p:cNvSpPr txBox="1"/>
          <p:nvPr/>
        </p:nvSpPr>
        <p:spPr>
          <a:xfrm>
            <a:off x="128692" y="878979"/>
            <a:ext cx="5479627" cy="40164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700" b="1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Простой процесс из 4 шагов:</a:t>
            </a:r>
            <a:endParaRPr lang="ru-RU" sz="1700" b="0" i="0" dirty="0">
              <a:solidFill>
                <a:srgbClr val="F9FAFB"/>
              </a:solidFill>
              <a:effectLst/>
              <a:latin typeface="Bahnschrift SemiLight SemiConde" panose="020B0502040204020203" pitchFamily="34" charset="0"/>
            </a:endParaRPr>
          </a:p>
          <a:p>
            <a:pPr algn="l">
              <a:buFont typeface="+mj-lt"/>
              <a:buAutoNum type="arabicPeriod"/>
            </a:pPr>
            <a:r>
              <a:rPr lang="ru-RU" sz="1700" b="1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Запускаем программу</a:t>
            </a:r>
            <a:r>
              <a:rPr lang="ru-RU" sz="1700" b="0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 и выбираем папку для проекта</a:t>
            </a:r>
          </a:p>
          <a:p>
            <a:pPr algn="l">
              <a:buFont typeface="+mj-lt"/>
              <a:buAutoNum type="arabicPeriod"/>
            </a:pPr>
            <a:r>
              <a:rPr lang="ru-RU" sz="1700" b="1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Настраиваем классы</a:t>
            </a:r>
            <a:r>
              <a:rPr lang="ru-RU" sz="1700" b="0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 – указываем, какие объекты нам нужны</a:t>
            </a:r>
          </a:p>
          <a:p>
            <a:pPr algn="l">
              <a:buFont typeface="+mj-lt"/>
              <a:buAutoNum type="arabicPeriod"/>
            </a:pPr>
            <a:r>
              <a:rPr lang="ru-RU" sz="1700" b="1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Запускаем автоматический сбор</a:t>
            </a:r>
            <a:r>
              <a:rPr lang="ru-RU" sz="1700" b="0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 – программа сама найдет и обработает изображения</a:t>
            </a:r>
          </a:p>
          <a:p>
            <a:pPr algn="l">
              <a:buFont typeface="+mj-lt"/>
              <a:buAutoNum type="arabicPeriod"/>
            </a:pPr>
            <a:r>
              <a:rPr lang="ru-RU" sz="1700" b="1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Получаем готовый </a:t>
            </a:r>
            <a:r>
              <a:rPr lang="ru-RU" sz="1700" b="1" i="0" dirty="0" err="1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датасет</a:t>
            </a:r>
            <a:r>
              <a:rPr lang="ru-RU" sz="1700" b="0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 – структурированный и подготовленный для обучения</a:t>
            </a:r>
          </a:p>
          <a:p>
            <a:pPr algn="l"/>
            <a:r>
              <a:rPr lang="ru-RU" sz="1700" b="1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Интерфейс интуитивно понятен (особенно для </a:t>
            </a:r>
            <a:r>
              <a:rPr lang="en-US" sz="1700" b="1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ML-</a:t>
            </a:r>
            <a:r>
              <a:rPr lang="ru-RU" sz="1700" b="1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инженеров):</a:t>
            </a:r>
            <a:endParaRPr lang="ru-RU" sz="1700" b="0" i="0" dirty="0">
              <a:solidFill>
                <a:srgbClr val="F9FAFB"/>
              </a:solidFill>
              <a:effectLst/>
              <a:latin typeface="Bahnschrift SemiLight SemiConde" panose="020B0502040204020203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700" b="0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Вкладка "Проект" – для настройки классов и параметров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700" dirty="0">
                <a:solidFill>
                  <a:srgbClr val="F9FAFB"/>
                </a:solidFill>
                <a:latin typeface="Bahnschrift SemiLight SemiConde" panose="020B0502040204020203" pitchFamily="34" charset="0"/>
              </a:rPr>
              <a:t>Вкладка </a:t>
            </a:r>
            <a:r>
              <a:rPr lang="ru-RU" sz="1700" b="0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"</a:t>
            </a:r>
            <a:r>
              <a:rPr lang="ru-RU" sz="1700" b="0" i="0" dirty="0" err="1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Датасет</a:t>
            </a:r>
            <a:r>
              <a:rPr lang="ru-RU" sz="1700" b="0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" –для ручного управления данными </a:t>
            </a:r>
            <a:r>
              <a:rPr lang="ru-RU" sz="1700" b="0" i="0" dirty="0" err="1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датасета</a:t>
            </a:r>
            <a:endParaRPr lang="ru-RU" sz="1700" b="0" i="0" dirty="0">
              <a:solidFill>
                <a:srgbClr val="F9FAFB"/>
              </a:solidFill>
              <a:effectLst/>
              <a:latin typeface="Bahnschrift SemiLight SemiConde" panose="020B0502040204020203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700" b="0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Вкладка "</a:t>
            </a:r>
            <a:r>
              <a:rPr lang="ru-RU" sz="1700" b="0" i="0" dirty="0" err="1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Автодатасет</a:t>
            </a:r>
            <a:r>
              <a:rPr lang="ru-RU" sz="1700" b="0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" – для запуска и контроля процесса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700" b="0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Визуализация прогресса и подробные </a:t>
            </a:r>
            <a:r>
              <a:rPr lang="ru-RU" sz="1700" b="0" i="0" dirty="0" err="1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логи</a:t>
            </a:r>
            <a:r>
              <a:rPr lang="ru-RU" sz="1700" b="0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 выполнения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C3538676-7376-4057-86EF-605BBE509A4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8814" t="2746" r="18593" b="10700"/>
          <a:stretch/>
        </p:blipFill>
        <p:spPr>
          <a:xfrm>
            <a:off x="5499947" y="1193764"/>
            <a:ext cx="3644054" cy="2993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9591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9"/>
          <p:cNvSpPr txBox="1">
            <a:spLocks noGrp="1"/>
          </p:cNvSpPr>
          <p:nvPr>
            <p:ph type="title"/>
          </p:nvPr>
        </p:nvSpPr>
        <p:spPr>
          <a:xfrm>
            <a:off x="1104303" y="487398"/>
            <a:ext cx="7811297" cy="80602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ru-RU" dirty="0"/>
              <a:t>Технические особенности</a:t>
            </a:r>
            <a:endParaRPr lang="en-US" dirty="0"/>
          </a:p>
        </p:txBody>
      </p:sp>
      <p:sp>
        <p:nvSpPr>
          <p:cNvPr id="191" name="Google Shape;191;p29"/>
          <p:cNvSpPr txBox="1">
            <a:spLocks noGrp="1"/>
          </p:cNvSpPr>
          <p:nvPr>
            <p:ph type="subTitle" idx="1"/>
          </p:nvPr>
        </p:nvSpPr>
        <p:spPr>
          <a:xfrm>
            <a:off x="85961" y="1066236"/>
            <a:ext cx="5357638" cy="391216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highlight>
                  <a:srgbClr val="000000"/>
                </a:highlight>
              </a:rPr>
              <a:t>Гибкая система настроек:</a:t>
            </a:r>
          </a:p>
          <a:p>
            <a:pPr marL="457200" lvl="1" indent="0" algn="l"/>
            <a:r>
              <a:rPr lang="ru-RU" sz="1600" dirty="0">
                <a:highlight>
                  <a:srgbClr val="000000"/>
                </a:highlight>
              </a:rPr>
              <a:t>Выбор формата аннотации – поддержка YOLO и других популярных форматов</a:t>
            </a:r>
          </a:p>
          <a:p>
            <a:pPr marL="457200" lvl="1" indent="0" algn="l"/>
            <a:r>
              <a:rPr lang="ru-RU" sz="1600" dirty="0">
                <a:highlight>
                  <a:srgbClr val="000000"/>
                </a:highlight>
              </a:rPr>
              <a:t>Контроль качества – настройка размера изображений, проверка на дубликаты</a:t>
            </a:r>
          </a:p>
          <a:p>
            <a:pPr marL="457200" lvl="1" indent="0" algn="l"/>
            <a:r>
              <a:rPr lang="ru-RU" sz="1600" dirty="0">
                <a:highlight>
                  <a:srgbClr val="000000"/>
                </a:highlight>
              </a:rPr>
              <a:t>Гибкая обработка – возможность получать как исходные изображения, так и </a:t>
            </a:r>
            <a:r>
              <a:rPr lang="ru-RU" sz="1600" dirty="0" err="1">
                <a:highlight>
                  <a:srgbClr val="000000"/>
                </a:highlight>
              </a:rPr>
              <a:t>augmented</a:t>
            </a:r>
            <a:r>
              <a:rPr lang="ru-RU" sz="1600" dirty="0">
                <a:highlight>
                  <a:srgbClr val="000000"/>
                </a:highlight>
              </a:rPr>
              <a:t> версии</a:t>
            </a:r>
          </a:p>
          <a:p>
            <a:pPr marL="457200" lvl="1" indent="0" algn="l"/>
            <a:r>
              <a:rPr lang="ru-RU" sz="1600" dirty="0" err="1">
                <a:highlight>
                  <a:srgbClr val="000000"/>
                </a:highlight>
              </a:rPr>
              <a:t>Валидационные</a:t>
            </a:r>
            <a:r>
              <a:rPr lang="ru-RU" sz="1600" dirty="0">
                <a:highlight>
                  <a:srgbClr val="000000"/>
                </a:highlight>
              </a:rPr>
              <a:t> данные – автоматическое создание тестовых наборов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ru-RU" dirty="0">
              <a:highlight>
                <a:srgbClr val="000000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highlight>
                  <a:srgbClr val="000000"/>
                </a:highlight>
              </a:rPr>
              <a:t>Для задач локализации объектов:</a:t>
            </a:r>
          </a:p>
          <a:p>
            <a:pPr marL="457200" lvl="1" indent="0" algn="l"/>
            <a:r>
              <a:rPr lang="ru-RU" sz="1600" dirty="0">
                <a:highlight>
                  <a:srgbClr val="000000"/>
                </a:highlight>
              </a:rPr>
              <a:t>Поддержка прямоугольных форматов изображений</a:t>
            </a:r>
          </a:p>
          <a:p>
            <a:pPr marL="457200" lvl="1" indent="0" algn="l"/>
            <a:r>
              <a:rPr lang="ru-RU" sz="1600" dirty="0">
                <a:highlight>
                  <a:srgbClr val="000000"/>
                </a:highlight>
              </a:rPr>
              <a:t>Сохранение пропорций </a:t>
            </a:r>
            <a:r>
              <a:rPr lang="ru-RU" sz="1600" dirty="0" err="1">
                <a:highlight>
                  <a:srgbClr val="000000"/>
                </a:highlight>
              </a:rPr>
              <a:t>bounding</a:t>
            </a:r>
            <a:r>
              <a:rPr lang="ru-RU" sz="1600" dirty="0">
                <a:highlight>
                  <a:srgbClr val="000000"/>
                </a:highlight>
              </a:rPr>
              <a:t> </a:t>
            </a:r>
            <a:r>
              <a:rPr lang="ru-RU" sz="1600" dirty="0" err="1">
                <a:highlight>
                  <a:srgbClr val="000000"/>
                </a:highlight>
              </a:rPr>
              <a:t>boxes</a:t>
            </a:r>
            <a:endParaRPr lang="ru-RU" sz="1600" dirty="0">
              <a:highlight>
                <a:srgbClr val="000000"/>
              </a:highlight>
            </a:endParaRPr>
          </a:p>
          <a:p>
            <a:pPr marL="457200" lvl="1" indent="0" algn="l"/>
            <a:r>
              <a:rPr lang="ru-RU" sz="1600" dirty="0">
                <a:highlight>
                  <a:srgbClr val="000000"/>
                </a:highlight>
              </a:rPr>
              <a:t>Адаптация под реальные условия съемки</a:t>
            </a:r>
            <a:endParaRPr lang="en-US" sz="1600" dirty="0">
              <a:highlight>
                <a:srgbClr val="000000"/>
              </a:highlight>
            </a:endParaRPr>
          </a:p>
        </p:txBody>
      </p:sp>
      <p:cxnSp>
        <p:nvCxnSpPr>
          <p:cNvPr id="192" name="Google Shape;192;p29"/>
          <p:cNvCxnSpPr/>
          <p:nvPr/>
        </p:nvCxnSpPr>
        <p:spPr>
          <a:xfrm>
            <a:off x="5100575" y="1293425"/>
            <a:ext cx="37314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1153EA5-D311-4337-B4C5-2374FAD920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4329" y="1418449"/>
            <a:ext cx="4098685" cy="339710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0"/>
          <p:cNvSpPr txBox="1">
            <a:spLocks noGrp="1"/>
          </p:cNvSpPr>
          <p:nvPr>
            <p:ph type="title"/>
          </p:nvPr>
        </p:nvSpPr>
        <p:spPr>
          <a:xfrm>
            <a:off x="5396653" y="4572"/>
            <a:ext cx="3747347" cy="83278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Пользователи</a:t>
            </a:r>
            <a:endParaRPr dirty="0"/>
          </a:p>
        </p:txBody>
      </p:sp>
      <p:sp>
        <p:nvSpPr>
          <p:cNvPr id="198" name="Google Shape;198;p30"/>
          <p:cNvSpPr txBox="1">
            <a:spLocks noGrp="1"/>
          </p:cNvSpPr>
          <p:nvPr>
            <p:ph type="subTitle" idx="1"/>
          </p:nvPr>
        </p:nvSpPr>
        <p:spPr>
          <a:xfrm>
            <a:off x="0" y="497421"/>
            <a:ext cx="5554133" cy="431121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algn="l"/>
            <a:r>
              <a:rPr lang="ru-RU" sz="1600" b="1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MacLearn полезен всем, кто работает с компьютерным зрением:</a:t>
            </a:r>
            <a:endParaRPr lang="ru-RU" sz="1600" b="0" i="0" dirty="0">
              <a:solidFill>
                <a:srgbClr val="F9FAFB"/>
              </a:solidFill>
              <a:effectLst/>
              <a:latin typeface="Bahnschrift SemiLight SemiConde" panose="020B0502040204020203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Разработчикам ML-моделей</a:t>
            </a:r>
            <a:r>
              <a:rPr lang="ru-RU" sz="1600" b="0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 – для быстрого прототипирования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Исследователям</a:t>
            </a:r>
            <a:r>
              <a:rPr lang="ru-RU" sz="1600" b="0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 – для фокусировки на алгоритмах, а не на данных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Студентам</a:t>
            </a:r>
            <a:r>
              <a:rPr lang="ru-RU" sz="1600" b="0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 – для обучения и экспериментов с нейросетями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Компаниям</a:t>
            </a:r>
            <a:r>
              <a:rPr lang="ru-RU" sz="1600" b="0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 – для сокращения затрат на подготовку данных</a:t>
            </a:r>
          </a:p>
          <a:p>
            <a:pPr algn="l"/>
            <a:r>
              <a:rPr lang="ru-RU" sz="1600" b="1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Эта программа – как 3D-принтер у инженеров, только в мире данных:</a:t>
            </a:r>
            <a:r>
              <a:rPr lang="ru-RU" sz="1600" b="0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 превращает цифровую идею в физический объект (в нашем случае – в готовый </a:t>
            </a:r>
            <a:r>
              <a:rPr lang="ru-RU" sz="1600" b="0" i="0" dirty="0" err="1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датасет</a:t>
            </a:r>
            <a:r>
              <a:rPr lang="ru-RU" sz="1600" b="0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).</a:t>
            </a:r>
          </a:p>
        </p:txBody>
      </p:sp>
      <p:cxnSp>
        <p:nvCxnSpPr>
          <p:cNvPr id="199" name="Google Shape;199;p30"/>
          <p:cNvCxnSpPr/>
          <p:nvPr/>
        </p:nvCxnSpPr>
        <p:spPr>
          <a:xfrm>
            <a:off x="312900" y="4914900"/>
            <a:ext cx="85182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FDE43BB2-1514-474F-990A-29282C27AF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892" y="946070"/>
            <a:ext cx="4075810" cy="3395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30AD0067-561D-431B-A906-2ABCC61EB8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0250" y="0"/>
            <a:ext cx="1691217" cy="16912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FAEA26-857B-45CA-B04B-A11706227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Будущее проекта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333EA5-06F3-4069-8917-6B3CD996F180}"/>
              </a:ext>
            </a:extLst>
          </p:cNvPr>
          <p:cNvSpPr txBox="1"/>
          <p:nvPr/>
        </p:nvSpPr>
        <p:spPr>
          <a:xfrm>
            <a:off x="228600" y="1042650"/>
            <a:ext cx="5344160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700" b="1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✅ Полная доработка проекта.</a:t>
            </a:r>
          </a:p>
          <a:p>
            <a:pPr algn="l"/>
            <a:endParaRPr lang="ru-RU" sz="1700" b="1" i="0" dirty="0">
              <a:solidFill>
                <a:srgbClr val="F9FAFB"/>
              </a:solidFill>
              <a:effectLst/>
              <a:latin typeface="Bahnschrift SemiLight SemiConde" panose="020B0502040204020203" pitchFamily="34" charset="0"/>
            </a:endParaRPr>
          </a:p>
          <a:p>
            <a:pPr algn="l"/>
            <a:r>
              <a:rPr lang="ru-RU" sz="1700" b="1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🛡️ Контроль качества</a:t>
            </a:r>
            <a:endParaRPr lang="ru-RU" sz="1700" b="0" i="0" dirty="0">
              <a:solidFill>
                <a:srgbClr val="F9FAFB"/>
              </a:solidFill>
              <a:effectLst/>
              <a:latin typeface="Bahnschrift SemiLight SemiConde" panose="020B0502040204020203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700" b="0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Автоматическая проверка на дубликаты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700" b="0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Фильтрация артефактов и повреждённых изображений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700" b="0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Оценка релевантности изображений</a:t>
            </a:r>
          </a:p>
          <a:p>
            <a:pPr algn="l"/>
            <a:r>
              <a:rPr lang="ru-RU" sz="1700" b="1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🔁 Оптимизация работы</a:t>
            </a:r>
            <a:endParaRPr lang="ru-RU" sz="1700" b="0" i="0" dirty="0">
              <a:solidFill>
                <a:srgbClr val="F9FAFB"/>
              </a:solidFill>
              <a:effectLst/>
              <a:latin typeface="Bahnschrift SemiLight SemiConde" panose="020B0502040204020203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700" b="0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Внедрение асинхронности для ускорения обработки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700" b="1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🤖 Полный цикл ML</a:t>
            </a:r>
            <a:endParaRPr lang="ru-RU" sz="1700" b="0" i="0" dirty="0">
              <a:solidFill>
                <a:srgbClr val="F9FAFB"/>
              </a:solidFill>
              <a:effectLst/>
              <a:latin typeface="Bahnschrift SemiLight SemiConde" panose="020B0502040204020203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700" b="0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Интеграция тренировки моделей прямо в программе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700" b="0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Тестирование распознавания и оценка качества моделей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700" b="0" i="0" dirty="0">
                <a:solidFill>
                  <a:srgbClr val="F9FAFB"/>
                </a:solidFill>
                <a:effectLst/>
                <a:latin typeface="Bahnschrift SemiLight SemiConde" panose="020B0502040204020203" pitchFamily="34" charset="0"/>
              </a:rPr>
              <a:t>Экспорт готового кода для встраивания в проекты</a:t>
            </a:r>
          </a:p>
        </p:txBody>
      </p:sp>
      <p:pic>
        <p:nvPicPr>
          <p:cNvPr id="2050" name="Picture 2" descr="Picture background">
            <a:extLst>
              <a:ext uri="{FF2B5EF4-FFF2-40B4-BE49-F238E27FC236}">
                <a16:creationId xmlns:a16="http://schemas.microsoft.com/office/drawing/2014/main" id="{797EF926-E2C4-4A13-8920-4BAB752CB3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2444" y="975360"/>
            <a:ext cx="3765409" cy="2560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09923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39"/>
          <p:cNvSpPr txBox="1">
            <a:spLocks noGrp="1"/>
          </p:cNvSpPr>
          <p:nvPr>
            <p:ph type="subTitle" idx="1"/>
          </p:nvPr>
        </p:nvSpPr>
        <p:spPr>
          <a:xfrm>
            <a:off x="-128692" y="1754295"/>
            <a:ext cx="5303520" cy="34679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ru-RU" sz="2000" b="1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Bahnschrift SemiLight SemiConde" panose="020B0502040204020203" pitchFamily="34" charset="0"/>
              </a:rPr>
              <a:t>MacLearn меняет подход к созданию </a:t>
            </a:r>
            <a:r>
              <a:rPr lang="ru-RU" sz="2000" b="1" i="0" dirty="0" err="1">
                <a:solidFill>
                  <a:srgbClr val="F9FAFB"/>
                </a:solidFill>
                <a:effectLst/>
                <a:highlight>
                  <a:srgbClr val="000000"/>
                </a:highlight>
                <a:latin typeface="Bahnschrift SemiLight SemiConde" panose="020B0502040204020203" pitchFamily="34" charset="0"/>
              </a:rPr>
              <a:t>датасетов</a:t>
            </a:r>
            <a:r>
              <a:rPr lang="ru-RU" sz="2000" b="1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Bahnschrift SemiLight SemiConde" panose="020B0502040204020203" pitchFamily="34" charset="0"/>
              </a:rPr>
              <a:t>:</a:t>
            </a:r>
            <a:endParaRPr lang="ru-RU" sz="2000" b="0" i="0" dirty="0">
              <a:solidFill>
                <a:srgbClr val="F9FAFB"/>
              </a:solidFill>
              <a:effectLst/>
              <a:highlight>
                <a:srgbClr val="000000"/>
              </a:highlight>
              <a:latin typeface="Bahnschrift SemiLight SemiConde" panose="020B0502040204020203" pitchFamily="34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1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Bahnschrift SemiLight SemiConde" panose="020B0502040204020203" pitchFamily="34" charset="0"/>
              </a:rPr>
              <a:t>Автоматизирует</a:t>
            </a:r>
            <a:r>
              <a:rPr lang="ru-RU" sz="20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Bahnschrift SemiLight SemiConde" panose="020B0502040204020203" pitchFamily="34" charset="0"/>
              </a:rPr>
              <a:t> самый трудоёмкий этап в ML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1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Bahnschrift SemiLight SemiConde" panose="020B0502040204020203" pitchFamily="34" charset="0"/>
              </a:rPr>
              <a:t>Ускоряет</a:t>
            </a:r>
            <a:r>
              <a:rPr lang="ru-RU" sz="20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Bahnschrift SemiLight SemiConde" panose="020B0502040204020203" pitchFamily="34" charset="0"/>
              </a:rPr>
              <a:t> создание </a:t>
            </a:r>
            <a:r>
              <a:rPr lang="ru-RU" sz="2000" b="0" i="0" dirty="0" err="1">
                <a:solidFill>
                  <a:srgbClr val="F9FAFB"/>
                </a:solidFill>
                <a:effectLst/>
                <a:highlight>
                  <a:srgbClr val="000000"/>
                </a:highlight>
                <a:latin typeface="Bahnschrift SemiLight SemiConde" panose="020B0502040204020203" pitchFamily="34" charset="0"/>
              </a:rPr>
              <a:t>датасетов</a:t>
            </a:r>
            <a:r>
              <a:rPr lang="ru-RU" sz="20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Bahnschrift SemiLight SemiConde" panose="020B0502040204020203" pitchFamily="34" charset="0"/>
              </a:rPr>
              <a:t> в </a:t>
            </a:r>
            <a:r>
              <a:rPr lang="ru-RU" sz="2000" b="1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Bahnschrift SemiLight SemiConde" panose="020B0502040204020203" pitchFamily="34" charset="0"/>
              </a:rPr>
              <a:t>десятки раз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1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Bahnschrift SemiLight SemiConde" panose="020B0502040204020203" pitchFamily="34" charset="0"/>
              </a:rPr>
              <a:t>Позволяет сосредоточиться</a:t>
            </a:r>
            <a:r>
              <a:rPr lang="ru-RU" sz="20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Bahnschrift SemiLight SemiConde" panose="020B0502040204020203" pitchFamily="34" charset="0"/>
              </a:rPr>
              <a:t> на разработке алгоритмов, а не на рутине</a:t>
            </a:r>
          </a:p>
          <a:p>
            <a:pPr algn="l"/>
            <a:r>
              <a:rPr lang="ru-RU" sz="2000" b="1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Bahnschrift SemiLight SemiConde" panose="020B0502040204020203" pitchFamily="34" charset="0"/>
              </a:rPr>
              <a:t>Будущее проекта:</a:t>
            </a:r>
            <a:r>
              <a:rPr lang="ru-RU" sz="2000" b="0" i="0" dirty="0">
                <a:solidFill>
                  <a:srgbClr val="F9FAFB"/>
                </a:solidFill>
                <a:effectLst/>
                <a:highlight>
                  <a:srgbClr val="000000"/>
                </a:highlight>
                <a:latin typeface="Bahnschrift SemiLight SemiConde" panose="020B0502040204020203" pitchFamily="34" charset="0"/>
              </a:rPr>
              <a:t> создание полноценной ML-платформы, где от идеи до работающей модели – всего один клик.</a:t>
            </a:r>
          </a:p>
        </p:txBody>
      </p:sp>
      <p:sp>
        <p:nvSpPr>
          <p:cNvPr id="348" name="Google Shape;348;p39"/>
          <p:cNvSpPr txBox="1">
            <a:spLocks noGrp="1"/>
          </p:cNvSpPr>
          <p:nvPr>
            <p:ph type="title"/>
          </p:nvPr>
        </p:nvSpPr>
        <p:spPr>
          <a:xfrm>
            <a:off x="228599" y="467359"/>
            <a:ext cx="3144300" cy="74964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Выводы</a:t>
            </a:r>
            <a:endParaRPr lang="en-US" dirty="0"/>
          </a:p>
        </p:txBody>
      </p:sp>
      <p:cxnSp>
        <p:nvCxnSpPr>
          <p:cNvPr id="349" name="Google Shape;349;p39"/>
          <p:cNvCxnSpPr/>
          <p:nvPr/>
        </p:nvCxnSpPr>
        <p:spPr>
          <a:xfrm>
            <a:off x="317349" y="1216857"/>
            <a:ext cx="27867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Google Shape;335;p39">
            <a:extLst>
              <a:ext uri="{FF2B5EF4-FFF2-40B4-BE49-F238E27FC236}">
                <a16:creationId xmlns:a16="http://schemas.microsoft.com/office/drawing/2014/main" id="{08398252-7005-4ED3-915C-6104737AC0FD}"/>
              </a:ext>
            </a:extLst>
          </p:cNvPr>
          <p:cNvSpPr txBox="1">
            <a:spLocks/>
          </p:cNvSpPr>
          <p:nvPr/>
        </p:nvSpPr>
        <p:spPr>
          <a:xfrm>
            <a:off x="5274266" y="842182"/>
            <a:ext cx="3969172" cy="3705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tamaran"/>
              <a:buNone/>
              <a:defRPr sz="1400" b="0" i="0" u="none" strike="noStrike" cap="none">
                <a:solidFill>
                  <a:schemeClr val="dk1"/>
                </a:solidFill>
                <a:latin typeface="Catamaran"/>
                <a:ea typeface="Catamaran"/>
                <a:cs typeface="Catamaran"/>
                <a:sym typeface="Catamaran"/>
              </a:defRPr>
            </a:lvl9pPr>
          </a:lstStyle>
          <a:p>
            <a:r>
              <a:rPr lang="ru-RU" sz="2000" b="1" dirty="0">
                <a:solidFill>
                  <a:srgbClr val="F9FAFB"/>
                </a:solidFill>
                <a:highlight>
                  <a:srgbClr val="000000"/>
                </a:highlight>
                <a:latin typeface="Bahnschrift SemiLight SemiConde" panose="020B0502040204020203" pitchFamily="34" charset="0"/>
              </a:rPr>
              <a:t>На данный момент готово:</a:t>
            </a:r>
          </a:p>
          <a:p>
            <a:pPr marL="596900" indent="-457200">
              <a:buAutoNum type="arabicParenR"/>
            </a:pPr>
            <a:r>
              <a:rPr lang="ru-RU" sz="2000" b="1" dirty="0">
                <a:solidFill>
                  <a:srgbClr val="F9FAFB"/>
                </a:solidFill>
                <a:highlight>
                  <a:srgbClr val="000000"/>
                </a:highlight>
                <a:latin typeface="Bahnschrift SemiLight SemiConde" panose="020B0502040204020203" pitchFamily="34" charset="0"/>
              </a:rPr>
              <a:t>Главный интерфейс программы</a:t>
            </a:r>
          </a:p>
          <a:p>
            <a:pPr marL="596900" indent="-457200">
              <a:buAutoNum type="arabicParenR"/>
            </a:pPr>
            <a:r>
              <a:rPr lang="ru-RU" sz="2000" b="1" dirty="0">
                <a:solidFill>
                  <a:srgbClr val="F9FAFB"/>
                </a:solidFill>
                <a:highlight>
                  <a:srgbClr val="000000"/>
                </a:highlight>
                <a:latin typeface="Bahnschrift SemiLight SemiConde" panose="020B0502040204020203" pitchFamily="34" charset="0"/>
              </a:rPr>
              <a:t>1000+ строк кода, которые выполняют функцию фундамента для новых функций и вещей в проекте</a:t>
            </a:r>
          </a:p>
          <a:p>
            <a:pPr marL="596900" indent="-457200">
              <a:buAutoNum type="arabicParenR"/>
            </a:pPr>
            <a:r>
              <a:rPr lang="ru-RU" sz="2000" b="1" dirty="0">
                <a:solidFill>
                  <a:srgbClr val="F9FAFB"/>
                </a:solidFill>
                <a:highlight>
                  <a:srgbClr val="000000"/>
                </a:highlight>
                <a:latin typeface="Bahnschrift SemiLight SemiConde" panose="020B0502040204020203" pitchFamily="34" charset="0"/>
              </a:rPr>
              <a:t>Настройка </a:t>
            </a:r>
            <a:r>
              <a:rPr lang="ru-RU" sz="2000" b="1" dirty="0" err="1">
                <a:solidFill>
                  <a:srgbClr val="F9FAFB"/>
                </a:solidFill>
                <a:highlight>
                  <a:srgbClr val="000000"/>
                </a:highlight>
                <a:latin typeface="Bahnschrift SemiLight SemiConde" panose="020B0502040204020203" pitchFamily="34" charset="0"/>
              </a:rPr>
              <a:t>датасета</a:t>
            </a:r>
            <a:endParaRPr lang="ru-RU" sz="2000" b="1" dirty="0">
              <a:solidFill>
                <a:srgbClr val="F9FAFB"/>
              </a:solidFill>
              <a:highlight>
                <a:srgbClr val="000000"/>
              </a:highlight>
              <a:latin typeface="Bahnschrift SemiLight SemiConde" panose="020B0502040204020203" pitchFamily="34" charset="0"/>
            </a:endParaRPr>
          </a:p>
          <a:p>
            <a:pPr marL="596900" indent="-457200">
              <a:buAutoNum type="arabicParenR"/>
            </a:pPr>
            <a:r>
              <a:rPr lang="ru-RU" sz="2000" b="1" dirty="0">
                <a:solidFill>
                  <a:srgbClr val="F9FAFB"/>
                </a:solidFill>
                <a:highlight>
                  <a:srgbClr val="000000"/>
                </a:highlight>
                <a:latin typeface="Bahnschrift SemiLight SemiConde" panose="020B0502040204020203" pitchFamily="34" charset="0"/>
              </a:rPr>
              <a:t>Автоматизация установки изображений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ectric Field Concepts by Slidesgo">
  <a:themeElements>
    <a:clrScheme name="Simple Light">
      <a:dk1>
        <a:srgbClr val="FFFFFF"/>
      </a:dk1>
      <a:lt1>
        <a:srgbClr val="0C0E1D"/>
      </a:lt1>
      <a:dk2>
        <a:srgbClr val="FFFFFF"/>
      </a:dk2>
      <a:lt2>
        <a:srgbClr val="FFFFFF"/>
      </a:lt2>
      <a:accent1>
        <a:srgbClr val="708CB6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</TotalTime>
  <Words>574</Words>
  <Application>Microsoft Office PowerPoint</Application>
  <PresentationFormat>Экран (16:9)</PresentationFormat>
  <Paragraphs>83</Paragraphs>
  <Slides>9</Slides>
  <Notes>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6" baseType="lpstr">
      <vt:lpstr>quote-cjk-patch</vt:lpstr>
      <vt:lpstr>Nunito Light</vt:lpstr>
      <vt:lpstr>Catamaran</vt:lpstr>
      <vt:lpstr>Rethink Sans</vt:lpstr>
      <vt:lpstr>Bahnschrift SemiLight SemiConde</vt:lpstr>
      <vt:lpstr>Arial</vt:lpstr>
      <vt:lpstr>Electric Field Concepts by Slidesgo</vt:lpstr>
      <vt:lpstr>MacLearn</vt:lpstr>
      <vt:lpstr>Проблема</vt:lpstr>
      <vt:lpstr>Решение — MacLearn</vt:lpstr>
      <vt:lpstr>Презентация PowerPoint</vt:lpstr>
      <vt:lpstr>Создание датасета</vt:lpstr>
      <vt:lpstr>Технические особенности</vt:lpstr>
      <vt:lpstr>Пользователи</vt:lpstr>
      <vt:lpstr>Будущее проекта</vt:lpstr>
      <vt:lpstr>Выводы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MacLearn</dc:title>
  <cp:lastModifiedBy>Artem</cp:lastModifiedBy>
  <cp:revision>17</cp:revision>
  <dcterms:modified xsi:type="dcterms:W3CDTF">2025-11-10T10:18:21Z</dcterms:modified>
</cp:coreProperties>
</file>